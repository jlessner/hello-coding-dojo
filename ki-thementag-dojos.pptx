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6"/>
  </p:sldMasterIdLst>
  <p:notesMasterIdLst>
    <p:notesMasterId r:id="rId11"/>
  </p:notesMasterIdLst>
  <p:handoutMasterIdLst>
    <p:handoutMasterId r:id="rId12"/>
  </p:handoutMasterIdLst>
  <p:sldIdLst>
    <p:sldId id="1333" r:id="rId7"/>
    <p:sldId id="1329" r:id="rId8"/>
    <p:sldId id="1334" r:id="rId9"/>
    <p:sldId id="1331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1" userDrawn="1">
          <p15:clr>
            <a:srgbClr val="A4A3A4"/>
          </p15:clr>
        </p15:guide>
        <p15:guide id="2" pos="4339" userDrawn="1">
          <p15:clr>
            <a:srgbClr val="A4A3A4"/>
          </p15:clr>
        </p15:guide>
        <p15:guide id="3" pos="1753" userDrawn="1">
          <p15:clr>
            <a:srgbClr val="A4A3A4"/>
          </p15:clr>
        </p15:guide>
        <p15:guide id="4" orient="horz" pos="2455" userDrawn="1">
          <p15:clr>
            <a:srgbClr val="A4A3A4"/>
          </p15:clr>
        </p15:guide>
        <p15:guide id="5" orient="horz" pos="459" userDrawn="1">
          <p15:clr>
            <a:srgbClr val="A4A3A4"/>
          </p15:clr>
        </p15:guide>
        <p15:guide id="6" orient="horz" pos="391" userDrawn="1">
          <p15:clr>
            <a:srgbClr val="A4A3A4"/>
          </p15:clr>
        </p15:guide>
        <p15:guide id="7" orient="horz" pos="527" userDrawn="1">
          <p15:clr>
            <a:srgbClr val="A4A3A4"/>
          </p15:clr>
        </p15:guide>
        <p15:guide id="8" orient="horz" pos="1434" userDrawn="1">
          <p15:clr>
            <a:srgbClr val="A4A3A4"/>
          </p15:clr>
        </p15:guide>
        <p15:guide id="9" orient="horz" pos="1684" userDrawn="1">
          <p15:clr>
            <a:srgbClr val="A4A3A4"/>
          </p15:clr>
        </p15:guide>
        <p15:guide id="10" pos="3500" userDrawn="1">
          <p15:clr>
            <a:srgbClr val="A4A3A4"/>
          </p15:clr>
        </p15:guide>
        <p15:guide id="11" orient="horz" pos="278" userDrawn="1">
          <p15:clr>
            <a:srgbClr val="A4A3A4"/>
          </p15:clr>
        </p15:guide>
        <p15:guide id="12" orient="horz" pos="1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verungen, Markus" initials="MaBev" lastIdx="14" clrIdx="0">
    <p:extLst>
      <p:ext uri="{19B8F6BF-5375-455C-9EA6-DF929625EA0E}">
        <p15:presenceInfo xmlns:p15="http://schemas.microsoft.com/office/powerpoint/2012/main" userId="Beverungen, Mark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40507"/>
    <a:srgbClr val="2D475A"/>
    <a:srgbClr val="7F7F7F"/>
    <a:srgbClr val="F49927"/>
    <a:srgbClr val="000000"/>
    <a:srgbClr val="FFC000"/>
    <a:srgbClr val="BFBFBF"/>
    <a:srgbClr val="C5003E"/>
    <a:srgbClr val="546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7465" autoAdjust="0"/>
  </p:normalViewPr>
  <p:slideViewPr>
    <p:cSldViewPr showGuides="1">
      <p:cViewPr varScale="1">
        <p:scale>
          <a:sx n="129" d="100"/>
          <a:sy n="129" d="100"/>
        </p:scale>
        <p:origin x="798" y="132"/>
      </p:cViewPr>
      <p:guideLst>
        <p:guide orient="horz" pos="1661"/>
        <p:guide pos="4339"/>
        <p:guide pos="1753"/>
        <p:guide orient="horz" pos="2455"/>
        <p:guide orient="horz" pos="459"/>
        <p:guide orient="horz" pos="391"/>
        <p:guide orient="horz" pos="527"/>
        <p:guide orient="horz" pos="1434"/>
        <p:guide orient="horz" pos="1684"/>
        <p:guide pos="3500"/>
        <p:guide orient="horz" pos="278"/>
        <p:guide orient="horz" pos="107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302"/>
    </p:cViewPr>
  </p:sorterViewPr>
  <p:notesViewPr>
    <p:cSldViewPr showGuides="1">
      <p:cViewPr varScale="1">
        <p:scale>
          <a:sx n="122" d="100"/>
          <a:sy n="122" d="100"/>
        </p:scale>
        <p:origin x="670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5" Type="http://schemas.openxmlformats.org/officeDocument/2006/relationships/customXml" Target="../customXml/item5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4F6EB0D-D772-4557-A688-DA7AE2B555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8FC5E7-6CAA-4708-B4DB-E3E887E0F6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D6DC5-306E-4ABC-9AC8-E2C0D65491EF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BAD9863-79C9-4BD7-8727-11938FD412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39760EA-234E-4A3E-8D26-66D439C50B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ADE28-339C-4973-BA41-0766E9564F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8589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52A35-9683-4BC0-AC46-092FDEE29B6E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902A3-DE93-4BBB-982D-2089ADBEE5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66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D6B2CDE4-1BC4-4D39-A80E-286EFB0FED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직사각형 29">
            <a:extLst>
              <a:ext uri="{FF2B5EF4-FFF2-40B4-BE49-F238E27FC236}">
                <a16:creationId xmlns:a16="http://schemas.microsoft.com/office/drawing/2014/main" id="{60175E29-EC1D-4A25-B092-78551F27ED51}"/>
              </a:ext>
            </a:extLst>
          </p:cNvPr>
          <p:cNvSpPr/>
          <p:nvPr userDrawn="1"/>
        </p:nvSpPr>
        <p:spPr>
          <a:xfrm>
            <a:off x="0" y="901"/>
            <a:ext cx="12192000" cy="5873706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굴림" panose="020B0600000101010101" pitchFamily="34" charset="-127"/>
                <a:cs typeface="Arial" panose="020B0604020202020204" pitchFamily="34" charset="0"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D6577CF3-1092-4250-9D3E-FC13D61C01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1461" y="2502684"/>
            <a:ext cx="9093202" cy="1325563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030225C-BAD1-4918-AD4C-044A3C5EB5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8848" y="4502106"/>
            <a:ext cx="9460236" cy="455069"/>
          </a:xfrm>
        </p:spPr>
        <p:txBody>
          <a:bodyPr>
            <a:no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Name, Funktion</a:t>
            </a:r>
          </a:p>
        </p:txBody>
      </p:sp>
      <p:sp>
        <p:nvSpPr>
          <p:cNvPr id="29" name="직사각형 42">
            <a:extLst>
              <a:ext uri="{FF2B5EF4-FFF2-40B4-BE49-F238E27FC236}">
                <a16:creationId xmlns:a16="http://schemas.microsoft.com/office/drawing/2014/main" id="{12D0F5B0-3A68-4598-9AD6-D3820150CAE7}"/>
              </a:ext>
            </a:extLst>
          </p:cNvPr>
          <p:cNvSpPr/>
          <p:nvPr userDrawn="1"/>
        </p:nvSpPr>
        <p:spPr>
          <a:xfrm>
            <a:off x="1466849" y="-1"/>
            <a:ext cx="72000" cy="1777397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63B290A0-5B3A-4148-A2B1-DAF5FD7143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1182" y="4957175"/>
            <a:ext cx="9460236" cy="455069"/>
          </a:xfrm>
        </p:spPr>
        <p:txBody>
          <a:bodyPr>
            <a:no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Ort, Datum</a:t>
            </a:r>
          </a:p>
        </p:txBody>
      </p:sp>
      <p:sp>
        <p:nvSpPr>
          <p:cNvPr id="41" name="Untertitel 2">
            <a:extLst>
              <a:ext uri="{FF2B5EF4-FFF2-40B4-BE49-F238E27FC236}">
                <a16:creationId xmlns:a16="http://schemas.microsoft.com/office/drawing/2014/main" id="{5AAD71F2-D4E8-41E2-9CAE-AF20A700E2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38848" y="540326"/>
            <a:ext cx="9065815" cy="1237069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Konkretisierende Beschreibung des Inhalts / Kundenreferenz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6106938-4D17-4DA0-9FAB-CBBB75FE8713}"/>
              </a:ext>
            </a:extLst>
          </p:cNvPr>
          <p:cNvSpPr/>
          <p:nvPr userDrawn="1"/>
        </p:nvSpPr>
        <p:spPr bwMode="auto">
          <a:xfrm>
            <a:off x="0" y="5874607"/>
            <a:ext cx="12192000" cy="984294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0" name="직사각형 43">
            <a:extLst>
              <a:ext uri="{FF2B5EF4-FFF2-40B4-BE49-F238E27FC236}">
                <a16:creationId xmlns:a16="http://schemas.microsoft.com/office/drawing/2014/main" id="{0E6D6730-3B66-4D12-B9C5-DA95F3FB4C5E}"/>
              </a:ext>
            </a:extLst>
          </p:cNvPr>
          <p:cNvSpPr/>
          <p:nvPr userDrawn="1"/>
        </p:nvSpPr>
        <p:spPr>
          <a:xfrm>
            <a:off x="10991418" y="4491649"/>
            <a:ext cx="72000" cy="2366351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47C401B-6D5B-416B-8CF8-3737624464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410" y="6193199"/>
            <a:ext cx="2706438" cy="43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9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urz">
    <p:bg>
      <p:bgPr>
        <a:solidFill>
          <a:schemeClr val="bg1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179CF38A-CBDD-41D0-B85B-BF140B9F83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직사각형 46">
            <a:extLst>
              <a:ext uri="{FF2B5EF4-FFF2-40B4-BE49-F238E27FC236}">
                <a16:creationId xmlns:a16="http://schemas.microsoft.com/office/drawing/2014/main" id="{D95C4BCC-7649-43A3-9611-E3DC1346DB65}"/>
              </a:ext>
            </a:extLst>
          </p:cNvPr>
          <p:cNvSpPr/>
          <p:nvPr userDrawn="1"/>
        </p:nvSpPr>
        <p:spPr>
          <a:xfrm>
            <a:off x="-5645" y="2377100"/>
            <a:ext cx="12192000" cy="4473576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5" name="직사각형 48">
            <a:extLst>
              <a:ext uri="{FF2B5EF4-FFF2-40B4-BE49-F238E27FC236}">
                <a16:creationId xmlns:a16="http://schemas.microsoft.com/office/drawing/2014/main" id="{7C6CBB60-83E8-477F-B5CA-29A975011A80}"/>
              </a:ext>
            </a:extLst>
          </p:cNvPr>
          <p:cNvSpPr/>
          <p:nvPr/>
        </p:nvSpPr>
        <p:spPr>
          <a:xfrm>
            <a:off x="-5645" y="2377100"/>
            <a:ext cx="12209483" cy="1952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70F5E6E5-8A83-4BCD-9B85-7F02A953EBC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57477" y="2612006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Nr.</a:t>
            </a:r>
          </a:p>
        </p:txBody>
      </p:sp>
      <p:sp>
        <p:nvSpPr>
          <p:cNvPr id="36" name="Textplatzhalter 34">
            <a:extLst>
              <a:ext uri="{FF2B5EF4-FFF2-40B4-BE49-F238E27FC236}">
                <a16:creationId xmlns:a16="http://schemas.microsoft.com/office/drawing/2014/main" id="{99ECB47A-B392-4D95-B0CE-5A4A118CD4F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57477" y="3269803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 err="1"/>
              <a:t>Agendapkt</a:t>
            </a:r>
            <a:r>
              <a:rPr lang="de-DE" dirty="0"/>
              <a:t>.</a:t>
            </a:r>
          </a:p>
        </p:txBody>
      </p:sp>
      <p:sp>
        <p:nvSpPr>
          <p:cNvPr id="42" name="Textplatzhalter 34">
            <a:extLst>
              <a:ext uri="{FF2B5EF4-FFF2-40B4-BE49-F238E27FC236}">
                <a16:creationId xmlns:a16="http://schemas.microsoft.com/office/drawing/2014/main" id="{0ED40921-F65C-4A5B-A5E0-5DC522AA4C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69444" y="3269803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 err="1"/>
              <a:t>Agendapkt</a:t>
            </a:r>
            <a:r>
              <a:rPr lang="de-DE" dirty="0"/>
              <a:t>.</a:t>
            </a:r>
          </a:p>
        </p:txBody>
      </p:sp>
      <p:sp>
        <p:nvSpPr>
          <p:cNvPr id="43" name="Textplatzhalter 34">
            <a:extLst>
              <a:ext uri="{FF2B5EF4-FFF2-40B4-BE49-F238E27FC236}">
                <a16:creationId xmlns:a16="http://schemas.microsoft.com/office/drawing/2014/main" id="{4AAB524D-2EDB-478A-993A-C3F82C1EBE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9444" y="2612006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Nr.</a:t>
            </a:r>
          </a:p>
        </p:txBody>
      </p:sp>
      <p:sp>
        <p:nvSpPr>
          <p:cNvPr id="44" name="Textplatzhalter 34">
            <a:extLst>
              <a:ext uri="{FF2B5EF4-FFF2-40B4-BE49-F238E27FC236}">
                <a16:creationId xmlns:a16="http://schemas.microsoft.com/office/drawing/2014/main" id="{CEC13680-A1A2-4B20-935B-6DA0080084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81411" y="3269803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 err="1"/>
              <a:t>Agendapkt</a:t>
            </a:r>
            <a:r>
              <a:rPr lang="de-DE" dirty="0"/>
              <a:t>.</a:t>
            </a:r>
          </a:p>
        </p:txBody>
      </p:sp>
      <p:sp>
        <p:nvSpPr>
          <p:cNvPr id="45" name="Textplatzhalter 34">
            <a:extLst>
              <a:ext uri="{FF2B5EF4-FFF2-40B4-BE49-F238E27FC236}">
                <a16:creationId xmlns:a16="http://schemas.microsoft.com/office/drawing/2014/main" id="{F6EACAF3-B973-486F-9DC8-7EC68CD090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81411" y="2612006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Nr.</a:t>
            </a:r>
          </a:p>
        </p:txBody>
      </p:sp>
      <p:sp>
        <p:nvSpPr>
          <p:cNvPr id="46" name="Textplatzhalter 34">
            <a:extLst>
              <a:ext uri="{FF2B5EF4-FFF2-40B4-BE49-F238E27FC236}">
                <a16:creationId xmlns:a16="http://schemas.microsoft.com/office/drawing/2014/main" id="{E9805A5D-0D22-4CF4-A3D4-C4E343AA10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93377" y="3269803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 err="1"/>
              <a:t>Agendapkt</a:t>
            </a:r>
            <a:r>
              <a:rPr lang="de-DE" dirty="0"/>
              <a:t>.</a:t>
            </a:r>
          </a:p>
        </p:txBody>
      </p:sp>
      <p:sp>
        <p:nvSpPr>
          <p:cNvPr id="47" name="Textplatzhalter 34">
            <a:extLst>
              <a:ext uri="{FF2B5EF4-FFF2-40B4-BE49-F238E27FC236}">
                <a16:creationId xmlns:a16="http://schemas.microsoft.com/office/drawing/2014/main" id="{25A54727-D021-469F-8B49-816B72B744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93377" y="2612006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Nr.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C5E4D9-1FEA-49FA-8C99-C747F89EE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A5846B7-8D94-456A-BA75-4A952A55EF90}"/>
              </a:ext>
            </a:extLst>
          </p:cNvPr>
          <p:cNvSpPr/>
          <p:nvPr userDrawn="1"/>
        </p:nvSpPr>
        <p:spPr bwMode="auto">
          <a:xfrm>
            <a:off x="0" y="0"/>
            <a:ext cx="12192000" cy="2384423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48FFF4-BCEE-4909-BB51-6F2DF67D8D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550800"/>
            <a:ext cx="9862616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e-DE" dirty="0" err="1"/>
              <a:t>Agendatitel</a:t>
            </a:r>
            <a:r>
              <a:rPr lang="de-DE" dirty="0"/>
              <a:t>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8F49ED8-C6CC-4CAE-97C6-6EACE6CD8E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13666" y="267192"/>
            <a:ext cx="849867" cy="45418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79D1B75-B07D-4160-A305-07482EE1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1E5347CC-51E0-4888-A1E2-77457BC79666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040156-40EC-4CC1-8114-234562DE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5721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 Ne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01DFD86-757F-4C03-BF00-0732128B31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직사각형 21">
            <a:extLst>
              <a:ext uri="{FF2B5EF4-FFF2-40B4-BE49-F238E27FC236}">
                <a16:creationId xmlns:a16="http://schemas.microsoft.com/office/drawing/2014/main" id="{08882A8A-7E30-43D1-A672-E52F242C047C}"/>
              </a:ext>
            </a:extLst>
          </p:cNvPr>
          <p:cNvSpPr/>
          <p:nvPr userDrawn="1"/>
        </p:nvSpPr>
        <p:spPr>
          <a:xfrm>
            <a:off x="3336670" y="-8"/>
            <a:ext cx="8855330" cy="6857998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42" name="직사각형 42">
            <a:extLst>
              <a:ext uri="{FF2B5EF4-FFF2-40B4-BE49-F238E27FC236}">
                <a16:creationId xmlns:a16="http://schemas.microsoft.com/office/drawing/2014/main" id="{95828C8E-5ABC-49F3-A55D-21EF7D1042E0}"/>
              </a:ext>
            </a:extLst>
          </p:cNvPr>
          <p:cNvSpPr/>
          <p:nvPr userDrawn="1"/>
        </p:nvSpPr>
        <p:spPr>
          <a:xfrm>
            <a:off x="3336670" y="0"/>
            <a:ext cx="1200166" cy="6857990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B9D330-5DB7-44F3-8418-82D1DEF4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6713" y="6561601"/>
            <a:ext cx="8647289" cy="92333"/>
          </a:xfrm>
        </p:spPr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9AAEBA-B76D-4DB5-AD05-7FA017B2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8A895E9A-6B2F-420D-9FD4-3422509E45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0726" y="247961"/>
            <a:ext cx="877206" cy="468000"/>
          </a:xfrm>
          <a:prstGeom prst="rect">
            <a:avLst/>
          </a:prstGeom>
        </p:spPr>
      </p:pic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D3D31E3-C45D-4C84-B465-2FCD692954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5106" y="2827073"/>
            <a:ext cx="7757985" cy="1215717"/>
          </a:xfrm>
          <a:noFill/>
        </p:spPr>
        <p:txBody>
          <a:bodyPr wrap="square" anchor="ctr">
            <a:spAutoFit/>
          </a:bodyPr>
          <a:lstStyle>
            <a:lvl1pPr marL="896938" indent="-896938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bg1"/>
              </a:buClr>
              <a:buSzPct val="120000"/>
              <a:buFont typeface="+mj-lt"/>
              <a:buAutoNum type="arabicPeriod"/>
              <a:defRPr b="0">
                <a:solidFill>
                  <a:schemeClr val="bg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985838" indent="-808038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  <a:tabLst/>
              <a:defRPr b="1">
                <a:solidFill>
                  <a:schemeClr val="bg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2pPr>
            <a:lvl3pPr marL="355600" indent="0">
              <a:spcBef>
                <a:spcPts val="1800"/>
              </a:spcBef>
              <a:buFont typeface="+mj-lt"/>
              <a:buNone/>
              <a:tabLst>
                <a:tab pos="446088" algn="l"/>
              </a:tabLst>
              <a:defRPr>
                <a:solidFill>
                  <a:schemeClr val="accent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3pPr>
            <a:lvl4pPr marL="1714500" indent="-342900">
              <a:spcBef>
                <a:spcPts val="1800"/>
              </a:spcBef>
              <a:buFont typeface="+mj-lt"/>
              <a:buAutoNum type="arabicPeriod"/>
              <a:defRPr>
                <a:solidFill>
                  <a:schemeClr val="accent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4pPr>
            <a:lvl5pPr>
              <a:spcBef>
                <a:spcPts val="1800"/>
              </a:spcBef>
              <a:buFont typeface="+mj-lt"/>
              <a:buAutoNum type="arabicPeriod"/>
              <a:defRPr>
                <a:solidFill>
                  <a:schemeClr val="accent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5pPr>
          </a:lstStyle>
          <a:p>
            <a:pPr lvl="0"/>
            <a:r>
              <a:rPr lang="de-DE" dirty="0" err="1"/>
              <a:t>Agendapunkte</a:t>
            </a:r>
            <a:r>
              <a:rPr lang="de-DE" dirty="0"/>
              <a:t> bearbeiten</a:t>
            </a:r>
          </a:p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8A13BC4-9401-43FE-A35B-B8FC1BF1F8CB}"/>
              </a:ext>
            </a:extLst>
          </p:cNvPr>
          <p:cNvSpPr/>
          <p:nvPr userDrawn="1"/>
        </p:nvSpPr>
        <p:spPr bwMode="auto">
          <a:xfrm>
            <a:off x="0" y="0"/>
            <a:ext cx="3336670" cy="6857998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320017-DF38-4877-880E-88E4CA82A2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699" y="3055626"/>
            <a:ext cx="2321318" cy="758609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 dirty="0" err="1"/>
              <a:t>Agendatitel</a:t>
            </a:r>
            <a:r>
              <a:rPr lang="de-DE" dirty="0"/>
              <a:t>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6E3A23-F7E2-4E20-9B13-5DE4F6CD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CC51D-1C22-4CF3-8FD3-18250F190113}" type="datetime1">
              <a:rPr lang="de-DE" smtClean="0"/>
              <a:t>12.06.2025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5097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m 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B05A16D1-DDF0-4E6D-8917-B478F97852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4E598086-6314-4462-81F2-483C6CAD7B71}"/>
              </a:ext>
            </a:extLst>
          </p:cNvPr>
          <p:cNvSpPr/>
          <p:nvPr userDrawn="1"/>
        </p:nvSpPr>
        <p:spPr bwMode="auto">
          <a:xfrm>
            <a:off x="0" y="1618"/>
            <a:ext cx="1455676" cy="6856515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5" name="직사각형 9">
            <a:extLst>
              <a:ext uri="{FF2B5EF4-FFF2-40B4-BE49-F238E27FC236}">
                <a16:creationId xmlns:a16="http://schemas.microsoft.com/office/drawing/2014/main" id="{355B6854-FB17-4182-9AE0-650C1D803EF9}"/>
              </a:ext>
            </a:extLst>
          </p:cNvPr>
          <p:cNvSpPr/>
          <p:nvPr userDrawn="1"/>
        </p:nvSpPr>
        <p:spPr>
          <a:xfrm>
            <a:off x="1461420" y="-1485"/>
            <a:ext cx="10730580" cy="6859485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BB797188-E7A5-4912-A146-7DDCE1BCA7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0726" y="247961"/>
            <a:ext cx="877206" cy="46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4FA0AA6-E4B4-42BB-8D8A-C4B13E4CA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622" y="549922"/>
            <a:ext cx="8209378" cy="7586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10E2E90-2EC8-41CE-8896-4D223DD791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04621" y="2436968"/>
            <a:ext cx="3060000" cy="3060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EF2AE384-00D7-4146-9451-1FED7D640A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4276016" y="3451218"/>
            <a:ext cx="2372328" cy="343828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Bildbeschriftung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95EC88-BDB9-429B-B39A-530DAB73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52E32C-1ED5-410F-B1C6-00C5C245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E292BF-5545-48C4-8C98-C650E514C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843C3ECC-28BA-4648-A791-48E762D6A652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021F2E-5E3F-4A09-95C3-A5D857328C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96800" y="1990801"/>
            <a:ext cx="5061132" cy="3861736"/>
          </a:xfrm>
        </p:spPr>
        <p:txBody>
          <a:bodyPr/>
          <a:lstStyle>
            <a:lvl1pPr>
              <a:spcBef>
                <a:spcPts val="1800"/>
              </a:spcBef>
              <a:defRPr>
                <a:solidFill>
                  <a:schemeClr val="bg1"/>
                </a:solidFill>
              </a:defRPr>
            </a:lvl1pPr>
            <a:lvl2pPr>
              <a:spcBef>
                <a:spcPts val="1800"/>
              </a:spcBef>
              <a:defRPr>
                <a:solidFill>
                  <a:schemeClr val="bg1"/>
                </a:solidFill>
              </a:defRPr>
            </a:lvl2pPr>
            <a:lvl3pPr>
              <a:spcBef>
                <a:spcPts val="1800"/>
              </a:spcBef>
              <a:defRPr>
                <a:solidFill>
                  <a:schemeClr val="bg1"/>
                </a:solidFill>
              </a:defRPr>
            </a:lvl3pPr>
            <a:lvl4pPr>
              <a:spcBef>
                <a:spcPts val="1800"/>
              </a:spcBef>
              <a:defRPr>
                <a:solidFill>
                  <a:schemeClr val="bg1"/>
                </a:solidFill>
              </a:defRPr>
            </a:lvl4pPr>
            <a:lvl5pPr>
              <a:spcBef>
                <a:spcPts val="18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1" name="직사각형 29">
            <a:extLst>
              <a:ext uri="{FF2B5EF4-FFF2-40B4-BE49-F238E27FC236}">
                <a16:creationId xmlns:a16="http://schemas.microsoft.com/office/drawing/2014/main" id="{E9AA2D9A-7B25-40D6-8257-19248CB5E347}"/>
              </a:ext>
            </a:extLst>
          </p:cNvPr>
          <p:cNvSpPr/>
          <p:nvPr userDrawn="1"/>
        </p:nvSpPr>
        <p:spPr>
          <a:xfrm rot="16200000">
            <a:off x="11048509" y="4801380"/>
            <a:ext cx="92333" cy="2194648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4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m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B60E19B3-DB1D-4A98-B826-9F162DB2F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직사각형 9">
            <a:extLst>
              <a:ext uri="{FF2B5EF4-FFF2-40B4-BE49-F238E27FC236}">
                <a16:creationId xmlns:a16="http://schemas.microsoft.com/office/drawing/2014/main" id="{BD566C09-647E-4ACC-8D10-D09DE907C985}"/>
              </a:ext>
            </a:extLst>
          </p:cNvPr>
          <p:cNvSpPr/>
          <p:nvPr userDrawn="1"/>
        </p:nvSpPr>
        <p:spPr>
          <a:xfrm>
            <a:off x="1470152" y="0"/>
            <a:ext cx="10721848" cy="6859485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3D6119-2C20-4845-9D62-1E4FA5787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200" y="550800"/>
            <a:ext cx="8208000" cy="7586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94A3068-F07E-4559-AEC8-CED839681E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0726" y="247961"/>
            <a:ext cx="877206" cy="468000"/>
          </a:xfrm>
          <a:prstGeom prst="rect">
            <a:avLst/>
          </a:prstGeom>
        </p:spPr>
      </p:pic>
      <p:sp>
        <p:nvSpPr>
          <p:cNvPr id="15" name="직사각형 29">
            <a:extLst>
              <a:ext uri="{FF2B5EF4-FFF2-40B4-BE49-F238E27FC236}">
                <a16:creationId xmlns:a16="http://schemas.microsoft.com/office/drawing/2014/main" id="{24A6D723-DB32-4D5F-A115-111F3C206374}"/>
              </a:ext>
            </a:extLst>
          </p:cNvPr>
          <p:cNvSpPr/>
          <p:nvPr userDrawn="1"/>
        </p:nvSpPr>
        <p:spPr>
          <a:xfrm rot="16200000">
            <a:off x="11048509" y="4801380"/>
            <a:ext cx="92333" cy="2194648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DC07C8A-2781-46BA-8AFD-734E957928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6801" y="1988840"/>
            <a:ext cx="5061132" cy="3862212"/>
          </a:xfrm>
        </p:spPr>
        <p:txBody>
          <a:bodyPr>
            <a:noAutofit/>
          </a:bodyPr>
          <a:lstStyle>
            <a:lvl1pPr>
              <a:spcBef>
                <a:spcPts val="1800"/>
              </a:spcBef>
              <a:defRPr>
                <a:solidFill>
                  <a:schemeClr val="bg1"/>
                </a:solidFill>
              </a:defRPr>
            </a:lvl1pPr>
            <a:lvl2pPr>
              <a:spcBef>
                <a:spcPts val="1800"/>
              </a:spcBef>
              <a:defRPr>
                <a:solidFill>
                  <a:schemeClr val="bg1"/>
                </a:solidFill>
              </a:defRPr>
            </a:lvl2pPr>
            <a:lvl3pPr>
              <a:spcBef>
                <a:spcPts val="1800"/>
              </a:spcBef>
              <a:defRPr>
                <a:solidFill>
                  <a:schemeClr val="bg1"/>
                </a:solidFill>
              </a:defRPr>
            </a:lvl3pPr>
            <a:lvl4pPr>
              <a:spcBef>
                <a:spcPts val="1800"/>
              </a:spcBef>
              <a:defRPr>
                <a:solidFill>
                  <a:schemeClr val="bg1"/>
                </a:solidFill>
              </a:defRPr>
            </a:lvl4pPr>
            <a:lvl5pPr>
              <a:spcBef>
                <a:spcPts val="18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D49F10C-A40C-4A74-A6F5-51F4BB41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57C475B-4147-4512-8D1A-9C8B1F3E3AF7}"/>
              </a:ext>
            </a:extLst>
          </p:cNvPr>
          <p:cNvSpPr/>
          <p:nvPr userDrawn="1"/>
        </p:nvSpPr>
        <p:spPr bwMode="auto">
          <a:xfrm>
            <a:off x="0" y="-1485"/>
            <a:ext cx="1455676" cy="6856515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9" name="그림 6">
            <a:extLst>
              <a:ext uri="{FF2B5EF4-FFF2-40B4-BE49-F238E27FC236}">
                <a16:creationId xmlns:a16="http://schemas.microsoft.com/office/drawing/2014/main" id="{3130A050-6321-4FF7-B5EE-97C7591E4A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450" y="1634113"/>
            <a:ext cx="5162550" cy="3989823"/>
          </a:xfrm>
          <a:prstGeom prst="rect">
            <a:avLst/>
          </a:prstGeom>
        </p:spPr>
      </p:pic>
      <p:sp>
        <p:nvSpPr>
          <p:cNvPr id="20" name="Inhaltsplatzhalter 19">
            <a:extLst>
              <a:ext uri="{FF2B5EF4-FFF2-40B4-BE49-F238E27FC236}">
                <a16:creationId xmlns:a16="http://schemas.microsoft.com/office/drawing/2014/main" id="{BA98B2F5-F273-485E-A183-E868B3F0E8E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71465" y="1988840"/>
            <a:ext cx="4437608" cy="239721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E439BB-3911-45E4-BD58-549FDA916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D4078B34-1100-4057-AC85-2D835B7BBC46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A875EE-1263-468A-A5D6-A301CA51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1251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m Bil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BAFD88DC-AC65-4CBB-B9FB-A0D3B9B206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4562475" cy="6858000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D265402-7274-423F-A6A6-FCAE30131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6800" y="1800000"/>
            <a:ext cx="4934468" cy="887768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29B64221-5964-4954-8741-03DE8E749A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96800" y="2988000"/>
            <a:ext cx="4934468" cy="3288191"/>
          </a:xfrm>
        </p:spPr>
        <p:txBody>
          <a:bodyPr/>
          <a:lstStyle>
            <a:lvl1pPr marL="342900" indent="-342900">
              <a:spcBef>
                <a:spcPts val="1800"/>
              </a:spcBef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직사각형 9">
            <a:extLst>
              <a:ext uri="{FF2B5EF4-FFF2-40B4-BE49-F238E27FC236}">
                <a16:creationId xmlns:a16="http://schemas.microsoft.com/office/drawing/2014/main" id="{1760561E-CA7F-4FEC-8046-A24B9A265558}"/>
              </a:ext>
            </a:extLst>
          </p:cNvPr>
          <p:cNvSpPr/>
          <p:nvPr userDrawn="1"/>
        </p:nvSpPr>
        <p:spPr>
          <a:xfrm>
            <a:off x="0" y="-2"/>
            <a:ext cx="4558733" cy="6858000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4FA0AA6-E4B4-42BB-8D8A-C4B13E4CA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59" y="5102296"/>
            <a:ext cx="3743417" cy="7586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3" name="Bildplatzhalter 15">
            <a:extLst>
              <a:ext uri="{FF2B5EF4-FFF2-40B4-BE49-F238E27FC236}">
                <a16:creationId xmlns:a16="http://schemas.microsoft.com/office/drawing/2014/main" id="{6F14F2D3-596A-4987-8910-C20C1456D1F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53549" y="2398449"/>
            <a:ext cx="2880000" cy="21600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10E2E90-2EC8-41CE-8896-4D223DD791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774" y="901038"/>
            <a:ext cx="2880000" cy="21600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직사각형 42">
            <a:extLst>
              <a:ext uri="{FF2B5EF4-FFF2-40B4-BE49-F238E27FC236}">
                <a16:creationId xmlns:a16="http://schemas.microsoft.com/office/drawing/2014/main" id="{ACBBE4B1-C868-4AB0-80CF-8F4D93F2F62A}"/>
              </a:ext>
            </a:extLst>
          </p:cNvPr>
          <p:cNvSpPr/>
          <p:nvPr userDrawn="1"/>
        </p:nvSpPr>
        <p:spPr>
          <a:xfrm>
            <a:off x="1466849" y="-1"/>
            <a:ext cx="72000" cy="1777397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E292BF-5545-48C4-8C98-C650E514C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62E99009-138A-4843-A2F8-8E923EF61B41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95EC88-BDB9-429B-B39A-530DAB73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52E32C-1ED5-410F-B1C6-00C5C245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788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mit Bil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DF9751FC-882A-4DCD-9D7C-C1065F7D6E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3248025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61C1F4-F658-4772-ADA0-69974A91D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BAB53D6C-4676-4A04-907A-7B3E00E1C1AD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DED6F8-1407-495E-9932-48F65FB80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32D17C-AB86-48EF-A76F-082ED511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25F06E3B-296A-4706-8ED0-C24991360C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9843" y="3593383"/>
            <a:ext cx="6009696" cy="2759792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직사각형 29">
            <a:extLst>
              <a:ext uri="{FF2B5EF4-FFF2-40B4-BE49-F238E27FC236}">
                <a16:creationId xmlns:a16="http://schemas.microsoft.com/office/drawing/2014/main" id="{754CAD5A-0D70-4AA0-96D3-9E7919D19CA9}"/>
              </a:ext>
            </a:extLst>
          </p:cNvPr>
          <p:cNvSpPr/>
          <p:nvPr userDrawn="1"/>
        </p:nvSpPr>
        <p:spPr>
          <a:xfrm rot="16200000">
            <a:off x="11044239" y="4780973"/>
            <a:ext cx="76198" cy="2219328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C896C52-8314-4A6C-A2D5-066BF61F9D48}"/>
              </a:ext>
            </a:extLst>
          </p:cNvPr>
          <p:cNvSpPr/>
          <p:nvPr userDrawn="1"/>
        </p:nvSpPr>
        <p:spPr bwMode="auto">
          <a:xfrm>
            <a:off x="0" y="0"/>
            <a:ext cx="12192000" cy="3249388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FBFA4E9-4DF3-4762-8D46-B3DA62F72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42" y="1332000"/>
            <a:ext cx="5617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A767E3E-6277-4BFD-9A6D-79C19762C2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4816" y="267192"/>
            <a:ext cx="875727" cy="46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7EF8B91-9481-47D4-859C-1301FC0818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9571" y="1332000"/>
            <a:ext cx="3600000" cy="36000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5964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hellem Hintergr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E6042AD0-6F1E-4392-A0E4-87E2A89AE9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16C6A9FD-D632-400C-82E3-2476A8D6A7B9}"/>
              </a:ext>
            </a:extLst>
          </p:cNvPr>
          <p:cNvSpPr/>
          <p:nvPr userDrawn="1"/>
        </p:nvSpPr>
        <p:spPr bwMode="auto">
          <a:xfrm>
            <a:off x="0" y="1485"/>
            <a:ext cx="12192000" cy="6856515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60CF372-A9FF-4063-BD75-1B4893B429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1946" y="248218"/>
            <a:ext cx="874765" cy="467485"/>
          </a:xfrm>
          <a:prstGeom prst="rect">
            <a:avLst/>
          </a:prstGeom>
        </p:spPr>
      </p:pic>
      <p:sp>
        <p:nvSpPr>
          <p:cNvPr id="9" name="직사각형 29">
            <a:extLst>
              <a:ext uri="{FF2B5EF4-FFF2-40B4-BE49-F238E27FC236}">
                <a16:creationId xmlns:a16="http://schemas.microsoft.com/office/drawing/2014/main" id="{1AC46863-1A1C-479F-9D5D-A3280B8DEE2F}"/>
              </a:ext>
            </a:extLst>
          </p:cNvPr>
          <p:cNvSpPr/>
          <p:nvPr userDrawn="1"/>
        </p:nvSpPr>
        <p:spPr>
          <a:xfrm rot="16200000">
            <a:off x="11044239" y="4780973"/>
            <a:ext cx="76198" cy="2219328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4" name="Inhaltsplatzhalter 6">
            <a:extLst>
              <a:ext uri="{FF2B5EF4-FFF2-40B4-BE49-F238E27FC236}">
                <a16:creationId xmlns:a16="http://schemas.microsoft.com/office/drawing/2014/main" id="{52FCA77A-7C15-4DD3-AF3F-C59D75D3FD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573200"/>
            <a:ext cx="9935301" cy="40873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041B1162-D4A9-483A-8AC5-A848A37F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550800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3DBE496-ACBA-48BA-815C-20A7E9731B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9842" y="6561601"/>
            <a:ext cx="1316871" cy="92333"/>
          </a:xfrm>
        </p:spPr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0B8A382A-7EAA-4F63-8582-9328F93E5971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66204C-19A0-48CB-AB55-1249C1D2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6400D5-2EF6-4B85-8039-B06EC41B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97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m hellem Hintergr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6B264261-8098-44EE-BE27-100B56A5A4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16C6A9FD-D632-400C-82E3-2476A8D6A7B9}"/>
              </a:ext>
            </a:extLst>
          </p:cNvPr>
          <p:cNvSpPr/>
          <p:nvPr userDrawn="1"/>
        </p:nvSpPr>
        <p:spPr bwMode="auto">
          <a:xfrm>
            <a:off x="0" y="0"/>
            <a:ext cx="12197644" cy="6856515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60CF372-A9FF-4063-BD75-1B4893B429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1946" y="248218"/>
            <a:ext cx="874765" cy="467485"/>
          </a:xfrm>
          <a:prstGeom prst="rect">
            <a:avLst/>
          </a:prstGeom>
        </p:spPr>
      </p:pic>
      <p:sp>
        <p:nvSpPr>
          <p:cNvPr id="14" name="Inhaltsplatzhalter 6">
            <a:extLst>
              <a:ext uri="{FF2B5EF4-FFF2-40B4-BE49-F238E27FC236}">
                <a16:creationId xmlns:a16="http://schemas.microsoft.com/office/drawing/2014/main" id="{52FCA77A-7C15-4DD3-AF3F-C59D75D3FD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573200"/>
            <a:ext cx="9935301" cy="40873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041B1162-D4A9-483A-8AC5-A848A37F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550800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3DBE496-ACBA-48BA-815C-20A7E9731B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9842" y="6561601"/>
            <a:ext cx="1316871" cy="92333"/>
          </a:xfrm>
        </p:spPr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0C9F6CE3-EA10-4BD8-B1B5-D51137E37B62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66204C-19A0-48CB-AB55-1249C1D2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6400D5-2EF6-4B85-8039-B06EC41B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32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dunklem Hintergr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1BB9B31B-6097-4BA6-8A91-D685B92D3F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직사각형 9">
            <a:extLst>
              <a:ext uri="{FF2B5EF4-FFF2-40B4-BE49-F238E27FC236}">
                <a16:creationId xmlns:a16="http://schemas.microsoft.com/office/drawing/2014/main" id="{F7C827BE-AF39-4A1D-9642-56F24304358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40000"/>
                  <a:lumOff val="60000"/>
                </a:schemeClr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1A3B39B-8395-4E04-B1B3-4FDDE454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200" y="550800"/>
            <a:ext cx="8494464" cy="7586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4B9A65-6A5D-4DF8-9D81-00258713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C54686FD-27CA-4264-A447-00CC3C9742ED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924373-4487-482D-91A5-8363CB954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A01591-D746-400A-820F-5810556D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6CEC344-7202-4BB2-A6FF-78C0E689E5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0726" y="247961"/>
            <a:ext cx="877206" cy="468000"/>
          </a:xfrm>
          <a:prstGeom prst="rect">
            <a:avLst/>
          </a:prstGeom>
        </p:spPr>
      </p:pic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0B63CAE-8015-49D5-B9FE-A4523D4913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931046"/>
            <a:ext cx="11178596" cy="4426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직사각형 29">
            <a:extLst>
              <a:ext uri="{FF2B5EF4-FFF2-40B4-BE49-F238E27FC236}">
                <a16:creationId xmlns:a16="http://schemas.microsoft.com/office/drawing/2014/main" id="{4810C4CF-3C1C-4670-928C-94E257CDC1FB}"/>
              </a:ext>
            </a:extLst>
          </p:cNvPr>
          <p:cNvSpPr/>
          <p:nvPr userDrawn="1"/>
        </p:nvSpPr>
        <p:spPr>
          <a:xfrm rot="16200000">
            <a:off x="11044239" y="4780973"/>
            <a:ext cx="76198" cy="2219328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5" name="직사각형 42">
            <a:extLst>
              <a:ext uri="{FF2B5EF4-FFF2-40B4-BE49-F238E27FC236}">
                <a16:creationId xmlns:a16="http://schemas.microsoft.com/office/drawing/2014/main" id="{A852A7DA-03D3-49CF-9E79-95EC1764F627}"/>
              </a:ext>
            </a:extLst>
          </p:cNvPr>
          <p:cNvSpPr/>
          <p:nvPr userDrawn="1"/>
        </p:nvSpPr>
        <p:spPr>
          <a:xfrm>
            <a:off x="1466849" y="-1"/>
            <a:ext cx="72000" cy="1777397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927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dunklem Hintergr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7A2D6A2E-B159-428A-BC60-8C788E7A9B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직사각형 9">
            <a:extLst>
              <a:ext uri="{FF2B5EF4-FFF2-40B4-BE49-F238E27FC236}">
                <a16:creationId xmlns:a16="http://schemas.microsoft.com/office/drawing/2014/main" id="{F7C827BE-AF39-4A1D-9642-56F243043586}"/>
              </a:ext>
            </a:extLst>
          </p:cNvPr>
          <p:cNvSpPr/>
          <p:nvPr userDrawn="1"/>
        </p:nvSpPr>
        <p:spPr>
          <a:xfrm>
            <a:off x="0" y="0"/>
            <a:ext cx="12192000" cy="6875537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D63DC52-6BC7-4CAC-8D4B-A4D3FCE9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550800"/>
            <a:ext cx="9930474" cy="7586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6CEC344-7202-4BB2-A6FF-78C0E689E5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0726" y="247961"/>
            <a:ext cx="877206" cy="468000"/>
          </a:xfrm>
          <a:prstGeom prst="rect">
            <a:avLst/>
          </a:prstGeom>
        </p:spPr>
      </p:pic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0B63CAE-8015-49D5-B9FE-A4523D4913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573200"/>
            <a:ext cx="11178596" cy="4426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924373-4487-482D-91A5-8363CB954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4B9A65-6A5D-4DF8-9D81-00258713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9840" y="6561601"/>
            <a:ext cx="1316873" cy="92333"/>
          </a:xfrm>
        </p:spPr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3D965A5E-C463-4E85-9592-0F17DD732390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A01591-D746-400A-820F-5810556D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5279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schmalem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C217F0BD-E9E4-4FBC-BBF0-4C681AA6E8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31445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CDD80A-EF7E-460F-9BE5-FDB0089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49F-693F-4A8B-AD1F-042F2F274E90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C502C-61DA-4582-9598-08697F23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Copyright 2025 • S&amp;N Invent GmbH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D5FA51-9A63-4B84-9E5C-8083124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65807EB-1442-4D98-AC94-DC11E8C51A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573200"/>
            <a:ext cx="11263461" cy="46621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직사각형 29">
            <a:extLst>
              <a:ext uri="{FF2B5EF4-FFF2-40B4-BE49-F238E27FC236}">
                <a16:creationId xmlns:a16="http://schemas.microsoft.com/office/drawing/2014/main" id="{007C7E90-23BD-4B9C-8B65-11AF0090A69F}"/>
              </a:ext>
            </a:extLst>
          </p:cNvPr>
          <p:cNvSpPr/>
          <p:nvPr userDrawn="1"/>
        </p:nvSpPr>
        <p:spPr>
          <a:xfrm rot="16200000">
            <a:off x="11044239" y="4780973"/>
            <a:ext cx="76198" cy="2219328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2E54C1B-77DD-4C6A-90FC-A14A7BC7A453}"/>
              </a:ext>
            </a:extLst>
          </p:cNvPr>
          <p:cNvSpPr/>
          <p:nvPr userDrawn="1"/>
        </p:nvSpPr>
        <p:spPr bwMode="auto">
          <a:xfrm>
            <a:off x="0" y="0"/>
            <a:ext cx="12192000" cy="1314451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AEF0F3-B06F-4583-A444-5ACBD9B0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295200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EA3E4F9-B7A3-400D-9751-9375EADDD0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712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schmalem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CDABF603-EA75-4497-8F1C-79042BBABC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31445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D5FA51-9A63-4B84-9E5C-8083124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65807EB-1442-4D98-AC94-DC11E8C51A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573200"/>
            <a:ext cx="11263461" cy="46621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0D1515B-E547-4CF3-BC63-773925ADE09C}"/>
              </a:ext>
            </a:extLst>
          </p:cNvPr>
          <p:cNvSpPr/>
          <p:nvPr userDrawn="1"/>
        </p:nvSpPr>
        <p:spPr bwMode="auto">
          <a:xfrm>
            <a:off x="0" y="533"/>
            <a:ext cx="12192000" cy="1313384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AEF0F3-B06F-4583-A444-5ACBD9B0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295922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EA3E4F9-B7A3-400D-9751-9375EADDD0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CDD80A-EF7E-460F-9BE5-FDB0089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130C-7944-4BC2-9A97-BBE6081083DB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C502C-61DA-4582-9598-08697F23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8573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transparentem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EF0F3-B06F-4583-A444-5ACBD9B0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550800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D5FA51-9A63-4B84-9E5C-8083124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65807EB-1442-4D98-AC94-DC11E8C51A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645920"/>
            <a:ext cx="11263461" cy="46621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EA3E4F9-B7A3-400D-9751-9375EADDD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CDD80A-EF7E-460F-9BE5-FDB0089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B94A-3D39-4929-B688-1FEC69F38511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C502C-61DA-4582-9598-08697F23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66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linkem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1342303-2F83-4BAB-B409-C651F8AFEA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333750" cy="6858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4AF481A-212F-49B7-B703-4C74012B91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FAF402D-4AEF-4721-AC7F-B6B7BA0AD4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1876" y="980728"/>
            <a:ext cx="7834312" cy="53772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AF97B1D-8202-4F30-BB78-1229D0CC9CB6}"/>
              </a:ext>
            </a:extLst>
          </p:cNvPr>
          <p:cNvSpPr/>
          <p:nvPr userDrawn="1"/>
        </p:nvSpPr>
        <p:spPr bwMode="auto">
          <a:xfrm>
            <a:off x="0" y="-2"/>
            <a:ext cx="3334269" cy="6858002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33FE398-9985-438E-B744-DE4E93896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84" y="2670390"/>
            <a:ext cx="2400330" cy="1777397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직사각형 42">
            <a:extLst>
              <a:ext uri="{FF2B5EF4-FFF2-40B4-BE49-F238E27FC236}">
                <a16:creationId xmlns:a16="http://schemas.microsoft.com/office/drawing/2014/main" id="{6F5E4364-492C-4BC8-B04A-A184671675F1}"/>
              </a:ext>
            </a:extLst>
          </p:cNvPr>
          <p:cNvSpPr/>
          <p:nvPr userDrawn="1"/>
        </p:nvSpPr>
        <p:spPr>
          <a:xfrm>
            <a:off x="1466849" y="-1"/>
            <a:ext cx="72000" cy="1777397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9AAEBA-B76D-4DB5-AD05-7FA017B2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6E3A23-F7E2-4E20-9B13-5DE4F6CD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CCA0-3537-474F-AE4F-50DB31F53970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B9D330-5DB7-44F3-8418-82D1DEF4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6625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linkem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3E4AB44B-2E9C-413B-80A8-BA2FF2B098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333750" cy="6858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4AF481A-212F-49B7-B703-4C74012B91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FAF402D-4AEF-4721-AC7F-B6B7BA0AD4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1876" y="979200"/>
            <a:ext cx="7834312" cy="53783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126DE14-CE8A-4B9E-8F75-E6341859FAA0}"/>
              </a:ext>
            </a:extLst>
          </p:cNvPr>
          <p:cNvSpPr/>
          <p:nvPr userDrawn="1"/>
        </p:nvSpPr>
        <p:spPr bwMode="auto">
          <a:xfrm>
            <a:off x="0" y="0"/>
            <a:ext cx="3334269" cy="6858002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8FC07060-3DE1-4C55-B7B8-497394350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84" y="2670390"/>
            <a:ext cx="2400330" cy="1777397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9AAEBA-B76D-4DB5-AD05-7FA017B2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6E3A23-F7E2-4E20-9B13-5DE4F6CD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2196F416-5FE8-4978-BB70-45A780668996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B9D330-5DB7-44F3-8418-82D1DEF4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5770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genüberstellu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30880033-78A3-4B62-99EC-F6160D35D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6737" y="0"/>
            <a:ext cx="3438525" cy="6858000"/>
          </a:xfrm>
          <a:prstGeom prst="rect">
            <a:avLst/>
          </a:prstGeom>
        </p:spPr>
      </p:pic>
      <p:sp>
        <p:nvSpPr>
          <p:cNvPr id="16" name="직사각형 9">
            <a:extLst>
              <a:ext uri="{FF2B5EF4-FFF2-40B4-BE49-F238E27FC236}">
                <a16:creationId xmlns:a16="http://schemas.microsoft.com/office/drawing/2014/main" id="{492DA4D8-B9BE-4D66-9EA5-93228D7A0C19}"/>
              </a:ext>
            </a:extLst>
          </p:cNvPr>
          <p:cNvSpPr/>
          <p:nvPr userDrawn="1"/>
        </p:nvSpPr>
        <p:spPr>
          <a:xfrm>
            <a:off x="4377600" y="0"/>
            <a:ext cx="3438000" cy="6874130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2C2AD63-7F0D-402F-9A88-960D9F19C9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263" y="1270661"/>
            <a:ext cx="3586162" cy="508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DD643B95-D889-40DC-B1ED-1FF1F2F4A46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21983" y="1270800"/>
            <a:ext cx="3586162" cy="508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직사각형 42">
            <a:extLst>
              <a:ext uri="{FF2B5EF4-FFF2-40B4-BE49-F238E27FC236}">
                <a16:creationId xmlns:a16="http://schemas.microsoft.com/office/drawing/2014/main" id="{70B74706-AB49-492A-BC36-3F663077B1B0}"/>
              </a:ext>
            </a:extLst>
          </p:cNvPr>
          <p:cNvSpPr/>
          <p:nvPr userDrawn="1"/>
        </p:nvSpPr>
        <p:spPr>
          <a:xfrm>
            <a:off x="5356035" y="-1"/>
            <a:ext cx="72000" cy="1777397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1929EA-5C63-4121-9585-04CDC0787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28" y="2220686"/>
            <a:ext cx="2809504" cy="2641402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F3D99B-062B-41A5-B7F4-17AE3F3EE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B7FF03-4672-4E12-9024-A99BB726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897A5482-8DD3-4A2F-8052-E4D73B7FB815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7B2A02-275A-4102-8F96-EE3EE989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55362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genüberstell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CC844D-DDE0-4B07-997C-EF525B98E9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6737" y="0"/>
            <a:ext cx="3438525" cy="6858000"/>
          </a:xfrm>
          <a:prstGeom prst="rect">
            <a:avLst/>
          </a:prstGeom>
        </p:spPr>
      </p:pic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2C2AD63-7F0D-402F-9A88-960D9F19C9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263" y="1270661"/>
            <a:ext cx="3586162" cy="508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DD643B95-D889-40DC-B1ED-1FF1F2F4A46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21983" y="1270800"/>
            <a:ext cx="3586162" cy="508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직사각형 9">
            <a:extLst>
              <a:ext uri="{FF2B5EF4-FFF2-40B4-BE49-F238E27FC236}">
                <a16:creationId xmlns:a16="http://schemas.microsoft.com/office/drawing/2014/main" id="{928AF8C2-55C4-45B1-AB57-417FAF189EC2}"/>
              </a:ext>
            </a:extLst>
          </p:cNvPr>
          <p:cNvSpPr/>
          <p:nvPr userDrawn="1"/>
        </p:nvSpPr>
        <p:spPr>
          <a:xfrm>
            <a:off x="4377600" y="0"/>
            <a:ext cx="3438000" cy="6882618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D43DDC82-EC3C-47DA-820B-74F8F044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28" y="2220686"/>
            <a:ext cx="2809504" cy="2641402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B7FF03-4672-4E12-9024-A99BB726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2811867F-6609-430E-8E46-93FA078043F9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7B2A02-275A-4102-8F96-EE3EE989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F3D99B-062B-41A5-B7F4-17AE3F3EE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33852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genüberstell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8D46357E-50FD-4446-8C24-E528F34144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314450"/>
          </a:xfrm>
          <a:prstGeom prst="rect">
            <a:avLst/>
          </a:pr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65807EB-1442-4D98-AC94-DC11E8C51A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645920"/>
            <a:ext cx="5251145" cy="46621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46F97871-D457-4A59-9BDF-91DA9F229C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057" y="1645920"/>
            <a:ext cx="5280002" cy="4662156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06D4A16-4674-41A8-83FD-3329A35D15D8}"/>
              </a:ext>
            </a:extLst>
          </p:cNvPr>
          <p:cNvSpPr/>
          <p:nvPr userDrawn="1"/>
        </p:nvSpPr>
        <p:spPr bwMode="auto">
          <a:xfrm>
            <a:off x="0" y="0"/>
            <a:ext cx="12192000" cy="1314000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AEF0F3-B06F-4583-A444-5ACBD9B0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295922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EA3E4F9-B7A3-400D-9751-9375EADDD0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D5FA51-9A63-4B84-9E5C-8083124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CDD80A-EF7E-460F-9BE5-FDB0089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E7EE-D71F-4813-B3C4-79CC1FDB86FD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C502C-61DA-4582-9598-08697F23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49766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genüberstellung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BAE4EE15-0947-442C-8518-A9F0115E3B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31445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D5FA51-9A63-4B84-9E5C-8083124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65807EB-1442-4D98-AC94-DC11E8C51A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645920"/>
            <a:ext cx="5251145" cy="46621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46F97871-D457-4A59-9BDF-91DA9F229C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057" y="1645920"/>
            <a:ext cx="5280002" cy="46621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A92801A-88DC-40E0-8160-4F5AA52190EB}"/>
              </a:ext>
            </a:extLst>
          </p:cNvPr>
          <p:cNvSpPr/>
          <p:nvPr userDrawn="1"/>
        </p:nvSpPr>
        <p:spPr bwMode="auto">
          <a:xfrm>
            <a:off x="0" y="0"/>
            <a:ext cx="12216680" cy="1324742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AEF0F3-B06F-4583-A444-5ACBD9B0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295922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EA3E4F9-B7A3-400D-9751-9375EADDD0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CDD80A-EF7E-460F-9BE5-FDB0089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5FD0-6D1F-4C20-8240-E620B4515DA4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C502C-61DA-4582-9598-08697F23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6495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2D05439-73B5-45D6-9D7D-522DD1BB0C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직사각형 24">
            <a:extLst>
              <a:ext uri="{FF2B5EF4-FFF2-40B4-BE49-F238E27FC236}">
                <a16:creationId xmlns:a16="http://schemas.microsoft.com/office/drawing/2014/main" id="{2CAE310F-FFD5-4E5D-A6A1-67DFB90B3202}"/>
              </a:ext>
            </a:extLst>
          </p:cNvPr>
          <p:cNvSpPr/>
          <p:nvPr userDrawn="1"/>
        </p:nvSpPr>
        <p:spPr>
          <a:xfrm>
            <a:off x="0" y="984294"/>
            <a:ext cx="12199157" cy="5873706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2" name="직사각형 25">
            <a:extLst>
              <a:ext uri="{FF2B5EF4-FFF2-40B4-BE49-F238E27FC236}">
                <a16:creationId xmlns:a16="http://schemas.microsoft.com/office/drawing/2014/main" id="{138B8EF8-F91A-4AF1-919E-74177EF86C72}"/>
              </a:ext>
            </a:extLst>
          </p:cNvPr>
          <p:cNvSpPr/>
          <p:nvPr userDrawn="1"/>
        </p:nvSpPr>
        <p:spPr>
          <a:xfrm flipV="1">
            <a:off x="1466849" y="5080603"/>
            <a:ext cx="76200" cy="1777397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D8D4950-AC26-4CFA-8715-C72372D2F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949" y="2507291"/>
            <a:ext cx="9935301" cy="75860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6359955-1DD6-4E97-9733-122377CF2D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7611" y="5601455"/>
            <a:ext cx="877205" cy="468000"/>
          </a:xfrm>
          <a:prstGeom prst="rect">
            <a:avLst/>
          </a:prstGeom>
        </p:spPr>
      </p:pic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C651944-6226-4C5E-A8E1-4676890AC2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2850" y="5079815"/>
            <a:ext cx="3909991" cy="134537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&lt;Name&gt; </a:t>
            </a:r>
            <a:br>
              <a:rPr lang="de-DE" dirty="0"/>
            </a:br>
            <a:r>
              <a:rPr lang="de-DE" dirty="0"/>
              <a:t>&lt;Email&gt; </a:t>
            </a:r>
            <a:br>
              <a:rPr lang="de-DE" dirty="0"/>
            </a:br>
            <a:r>
              <a:rPr lang="de-DE" dirty="0"/>
              <a:t>&lt;Telefon&gt;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B525FCB8-91BF-4F43-9717-3F37621DC1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129801" y="5080602"/>
            <a:ext cx="1153695" cy="14447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200"/>
            </a:lvl1pPr>
          </a:lstStyle>
          <a:p>
            <a:r>
              <a:rPr lang="de-DE" sz="1200" dirty="0"/>
              <a:t>Passfoto hinzufügen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90055A6-D799-4F13-A77F-3B0B5FED3F25}"/>
              </a:ext>
            </a:extLst>
          </p:cNvPr>
          <p:cNvSpPr/>
          <p:nvPr userDrawn="1"/>
        </p:nvSpPr>
        <p:spPr bwMode="auto">
          <a:xfrm>
            <a:off x="0" y="0"/>
            <a:ext cx="12193200" cy="989440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직사각형 28">
            <a:extLst>
              <a:ext uri="{FF2B5EF4-FFF2-40B4-BE49-F238E27FC236}">
                <a16:creationId xmlns:a16="http://schemas.microsoft.com/office/drawing/2014/main" id="{FD02C1A7-5C0B-4EF1-AEAB-9C42CDB3E5AE}"/>
              </a:ext>
            </a:extLst>
          </p:cNvPr>
          <p:cNvSpPr/>
          <p:nvPr userDrawn="1"/>
        </p:nvSpPr>
        <p:spPr>
          <a:xfrm flipV="1">
            <a:off x="10991418" y="-1"/>
            <a:ext cx="76200" cy="1800000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9D62D63-9427-4400-9E79-BA4AB84B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52CEBD-9B68-4EF3-BFC7-D117D377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018207A-13E2-4DB4-8B1F-22A46F43B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B8A3C1FD-6FBC-40B2-88F5-F3E61E8EEBF0}" type="datetime1">
              <a:rPr lang="de-DE" smtClean="0"/>
              <a:t>12.06.2025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3429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93235566-3324-4915-B2D9-504589C49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550800"/>
            <a:ext cx="9862616" cy="7586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43D64A8-4C93-4AEC-8AFD-EC89C179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571347"/>
            <a:ext cx="11190776" cy="4605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0CF94B0D-CF8E-4068-B089-CF5711539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9842" y="6561601"/>
            <a:ext cx="1316871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 b="0">
                <a:solidFill>
                  <a:schemeClr val="tx1">
                    <a:lumMod val="40000"/>
                    <a:lumOff val="6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0B3ED860-F659-4DA4-A4D1-650787465D35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D9631B08-C649-4EEF-9228-CF2A1E42E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66713" y="6561601"/>
            <a:ext cx="8647289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 b="0">
                <a:solidFill>
                  <a:schemeClr val="tx1">
                    <a:lumMod val="40000"/>
                    <a:lumOff val="6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 Copyright 2025 • S&amp;N Group AG • All rights reserved.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4D705AA0-C045-45F4-AE2C-E5E9F5431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4000" y="6561601"/>
            <a:ext cx="132816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600" b="0">
                <a:solidFill>
                  <a:schemeClr val="tx1">
                    <a:lumMod val="40000"/>
                    <a:lumOff val="6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C7A0D8B-171E-4690-B80B-EB9FB63F3B20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5200" y="266400"/>
            <a:ext cx="864866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96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9" r:id="rId2"/>
    <p:sldLayoutId id="2147483734" r:id="rId3"/>
    <p:sldLayoutId id="2147483735" r:id="rId4"/>
    <p:sldLayoutId id="2147483683" r:id="rId5"/>
    <p:sldLayoutId id="2147483681" r:id="rId6"/>
    <p:sldLayoutId id="2147483687" r:id="rId7"/>
    <p:sldLayoutId id="2147483684" r:id="rId8"/>
    <p:sldLayoutId id="2147483740" r:id="rId9"/>
    <p:sldLayoutId id="2147483685" r:id="rId10"/>
    <p:sldLayoutId id="2147483692" r:id="rId11"/>
    <p:sldLayoutId id="2147483686" r:id="rId12"/>
    <p:sldLayoutId id="2147483724" r:id="rId13"/>
    <p:sldLayoutId id="2147483723" r:id="rId14"/>
    <p:sldLayoutId id="2147483689" r:id="rId15"/>
    <p:sldLayoutId id="2147483696" r:id="rId16"/>
    <p:sldLayoutId id="2147483688" r:id="rId17"/>
    <p:sldLayoutId id="2147483695" r:id="rId18"/>
    <p:sldLayoutId id="2147483726" r:id="rId19"/>
    <p:sldLayoutId id="2147483725" r:id="rId20"/>
    <p:sldLayoutId id="2147483690" r:id="rId2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Schrift, Rechteck, Entwurf enthält.&#10;&#10;KI-generierte Inhalte können fehlerhaft sein.">
            <a:extLst>
              <a:ext uri="{FF2B5EF4-FFF2-40B4-BE49-F238E27FC236}">
                <a16:creationId xmlns:a16="http://schemas.microsoft.com/office/drawing/2014/main" id="{65680B87-A4C1-4F24-473B-761A6A60F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32" y="68263"/>
            <a:ext cx="10301112" cy="6721475"/>
          </a:xfrm>
          <a:prstGeom prst="rect">
            <a:avLst/>
          </a:prstGeom>
          <a:noFill/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39888658-8BAF-84EB-3B01-50782E21DAF9}"/>
              </a:ext>
            </a:extLst>
          </p:cNvPr>
          <p:cNvSpPr/>
          <p:nvPr/>
        </p:nvSpPr>
        <p:spPr>
          <a:xfrm>
            <a:off x="2927648" y="2101286"/>
            <a:ext cx="6120680" cy="34159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EEC6B5E-E72B-0B73-58B7-8F52C89AC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712" y="2852936"/>
            <a:ext cx="4968552" cy="291949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464442D-F892-4C59-EE83-4050A4654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349" y="1340768"/>
            <a:ext cx="3992827" cy="120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14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CA717E57-E23F-6BA7-19F5-254B2B3154E8}"/>
              </a:ext>
            </a:extLst>
          </p:cNvPr>
          <p:cNvSpPr/>
          <p:nvPr/>
        </p:nvSpPr>
        <p:spPr>
          <a:xfrm>
            <a:off x="407368" y="2047210"/>
            <a:ext cx="5688632" cy="4266796"/>
          </a:xfrm>
          <a:prstGeom prst="roundRect">
            <a:avLst>
              <a:gd name="adj" fmla="val 4235"/>
            </a:avLst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03B07F0F-6E76-FEC7-5676-0F5BD307CD3B}"/>
              </a:ext>
            </a:extLst>
          </p:cNvPr>
          <p:cNvSpPr/>
          <p:nvPr/>
        </p:nvSpPr>
        <p:spPr>
          <a:xfrm>
            <a:off x="6456040" y="2047211"/>
            <a:ext cx="5286120" cy="2970244"/>
          </a:xfrm>
          <a:prstGeom prst="roundRect">
            <a:avLst>
              <a:gd name="adj" fmla="val 4235"/>
            </a:avLst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DCD62EA-A0F7-4251-9E05-9C1BBFA5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49F-693F-4A8B-AD1F-042F2F274E90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450D58-C923-4965-BE36-8F20DD54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E6B3330-F19B-4AC8-9189-FFB7B8364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KI-Thementag – Ablauf der Dojos</a:t>
            </a:r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A576D1F4-18EB-4DB4-BB18-248EE623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6713" y="6561601"/>
            <a:ext cx="8647289" cy="92333"/>
          </a:xfrm>
        </p:spPr>
        <p:txBody>
          <a:bodyPr/>
          <a:lstStyle/>
          <a:p>
            <a:r>
              <a:rPr lang="en-US" dirty="0"/>
              <a:t>© Copyright 2025 • S&amp;N Invent GmbH • All rights reserved.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DEC8A87-DB9E-E65F-08EB-2CDC1E8A9C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2610350"/>
            <a:ext cx="5616624" cy="1876734"/>
          </a:xfrm>
        </p:spPr>
        <p:txBody>
          <a:bodyPr>
            <a:normAutofit/>
          </a:bodyPr>
          <a:lstStyle/>
          <a:p>
            <a:r>
              <a:rPr lang="de-DE" sz="1800" dirty="0"/>
              <a:t>Kurze Einführung: was ist ein Coding Dojo?</a:t>
            </a:r>
          </a:p>
          <a:p>
            <a:r>
              <a:rPr lang="de-DE" sz="1800" dirty="0"/>
              <a:t>Programmieren der Kata „</a:t>
            </a:r>
            <a:r>
              <a:rPr lang="de-DE" sz="1800" dirty="0" err="1"/>
              <a:t>Social</a:t>
            </a:r>
            <a:r>
              <a:rPr lang="de-DE" sz="1800" dirty="0"/>
              <a:t> Time“</a:t>
            </a:r>
          </a:p>
          <a:p>
            <a:r>
              <a:rPr lang="de-DE" sz="1800" dirty="0"/>
              <a:t>Schrittweise aufgedeckt</a:t>
            </a:r>
          </a:p>
          <a:p>
            <a:r>
              <a:rPr lang="de-DE" sz="1800" dirty="0"/>
              <a:t>Nur unterstützt von </a:t>
            </a:r>
            <a:r>
              <a:rPr lang="de-DE" sz="1800" dirty="0" err="1"/>
              <a:t>Github</a:t>
            </a:r>
            <a:r>
              <a:rPr lang="de-DE" sz="1800" dirty="0"/>
              <a:t> Copilot </a:t>
            </a:r>
            <a:r>
              <a:rPr lang="de-DE" sz="1800" dirty="0" err="1"/>
              <a:t>Completions</a:t>
            </a:r>
            <a:endParaRPr lang="de-DE" sz="1800" dirty="0"/>
          </a:p>
          <a:p>
            <a:pPr marL="0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 Schnelle Produktion von </a:t>
            </a:r>
            <a:r>
              <a:rPr lang="de-DE" sz="1800" dirty="0" err="1">
                <a:sym typeface="Wingdings" panose="05000000000000000000" pitchFamily="2" charset="2"/>
              </a:rPr>
              <a:t>Spagetticode</a:t>
            </a:r>
            <a:endParaRPr lang="de-DE" sz="18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438EC77-57EA-20C5-3BD5-9640066A558D}"/>
              </a:ext>
            </a:extLst>
          </p:cNvPr>
          <p:cNvSpPr txBox="1"/>
          <p:nvPr/>
        </p:nvSpPr>
        <p:spPr>
          <a:xfrm>
            <a:off x="479376" y="2132856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1. Stunde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3088B3B-64E7-C6F7-B55A-998DE2895A58}"/>
              </a:ext>
            </a:extLst>
          </p:cNvPr>
          <p:cNvGrpSpPr/>
          <p:nvPr/>
        </p:nvGrpSpPr>
        <p:grpSpPr>
          <a:xfrm>
            <a:off x="473468" y="4606347"/>
            <a:ext cx="5706784" cy="1774980"/>
            <a:chOff x="473468" y="4606347"/>
            <a:chExt cx="5706784" cy="1774980"/>
          </a:xfrm>
        </p:grpSpPr>
        <p:sp>
          <p:nvSpPr>
            <p:cNvPr id="14" name="Inhaltsplatzhalter 4">
              <a:extLst>
                <a:ext uri="{FF2B5EF4-FFF2-40B4-BE49-F238E27FC236}">
                  <a16:creationId xmlns:a16="http://schemas.microsoft.com/office/drawing/2014/main" id="{E7A0ACCC-7805-73F9-B351-8863AA5B80DB}"/>
                </a:ext>
              </a:extLst>
            </p:cNvPr>
            <p:cNvSpPr txBox="1">
              <a:spLocks/>
            </p:cNvSpPr>
            <p:nvPr/>
          </p:nvSpPr>
          <p:spPr>
            <a:xfrm>
              <a:off x="563628" y="5017454"/>
              <a:ext cx="5616624" cy="136387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defTabSz="457200">
                <a:spcBef>
                  <a:spcPts val="6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  <a:lvl2pPr marL="742950" indent="-285750" defTabSz="457200">
                <a:spcBef>
                  <a:spcPts val="6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2pPr>
              <a:lvl3pPr marL="1143000" indent="-228600" defTabSz="457200">
                <a:spcBef>
                  <a:spcPts val="6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160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3pPr>
              <a:lvl4pPr marL="1600200" indent="-228600" defTabSz="457200">
                <a:spcBef>
                  <a:spcPts val="600"/>
                </a:spcBef>
                <a:buClr>
                  <a:schemeClr val="accent1"/>
                </a:buClr>
                <a:buFont typeface="Symbol" panose="05050102010706020507" pitchFamily="18" charset="2"/>
                <a:buChar char="-"/>
                <a:defRPr sz="160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4pPr>
              <a:lvl5pPr marL="2057400" indent="-228600" defTabSz="457200">
                <a:spcBef>
                  <a:spcPts val="600"/>
                </a:spcBef>
                <a:buClr>
                  <a:schemeClr val="accent1"/>
                </a:buClr>
                <a:buFont typeface="Symbol" panose="05050102010706020507" pitchFamily="18" charset="2"/>
                <a:buChar char="-"/>
                <a:defRPr sz="120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5pPr>
              <a:lvl6pPr marL="2514600" indent="-228600" defTabSz="457200">
                <a:spcBef>
                  <a:spcPct val="20000"/>
                </a:spcBef>
                <a:buFont typeface="Arial"/>
                <a:buChar char="•"/>
                <a:defRPr sz="2000"/>
              </a:lvl6pPr>
              <a:lvl7pPr marL="2971800" indent="-228600" defTabSz="457200">
                <a:spcBef>
                  <a:spcPct val="20000"/>
                </a:spcBef>
                <a:buFont typeface="Arial"/>
                <a:buChar char="•"/>
                <a:defRPr sz="2000"/>
              </a:lvl7pPr>
              <a:lvl8pPr marL="3429000" indent="-228600" defTabSz="457200">
                <a:spcBef>
                  <a:spcPct val="20000"/>
                </a:spcBef>
                <a:buFont typeface="Arial"/>
                <a:buChar char="•"/>
                <a:defRPr sz="2000"/>
              </a:lvl8pPr>
              <a:lvl9pPr marL="3886200" indent="-228600" defTabSz="457200">
                <a:spcBef>
                  <a:spcPct val="20000"/>
                </a:spcBef>
                <a:buFont typeface="Arial"/>
                <a:buChar char="•"/>
                <a:defRPr sz="2000"/>
              </a:lvl9pPr>
            </a:lstStyle>
            <a:p>
              <a:r>
                <a:rPr lang="de-DE" dirty="0" err="1"/>
                <a:t>Refactoring</a:t>
              </a:r>
              <a:endParaRPr lang="de-DE" dirty="0"/>
            </a:p>
            <a:p>
              <a:r>
                <a:rPr lang="de-DE" dirty="0"/>
                <a:t>Aufräumen des </a:t>
              </a:r>
              <a:r>
                <a:rPr lang="de-DE" dirty="0" err="1"/>
                <a:t>Spagetticodes</a:t>
              </a:r>
              <a:r>
                <a:rPr lang="de-DE" dirty="0"/>
                <a:t> mit </a:t>
              </a:r>
              <a:r>
                <a:rPr lang="de-DE" dirty="0" err="1"/>
                <a:t>Junie</a:t>
              </a:r>
              <a:r>
                <a:rPr lang="de-DE" dirty="0"/>
                <a:t> Chat</a:t>
              </a:r>
            </a:p>
            <a:p>
              <a:r>
                <a:rPr lang="de-DE" dirty="0"/>
                <a:t>Ggf. parallel mit H.I.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4CC1568A-F8C6-CD98-2159-5A7A4A0D0068}"/>
                </a:ext>
              </a:extLst>
            </p:cNvPr>
            <p:cNvSpPr txBox="1"/>
            <p:nvPr/>
          </p:nvSpPr>
          <p:spPr>
            <a:xfrm>
              <a:off x="473468" y="4606347"/>
              <a:ext cx="14991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b="1" dirty="0"/>
                <a:t>2. Stunde</a:t>
              </a:r>
            </a:p>
          </p:txBody>
        </p:sp>
      </p:grpSp>
      <p:sp>
        <p:nvSpPr>
          <p:cNvPr id="27" name="Inhaltsplatzhalter 4">
            <a:extLst>
              <a:ext uri="{FF2B5EF4-FFF2-40B4-BE49-F238E27FC236}">
                <a16:creationId xmlns:a16="http://schemas.microsoft.com/office/drawing/2014/main" id="{9F38855B-F4ED-3A1D-1444-87C3E28E1599}"/>
              </a:ext>
            </a:extLst>
          </p:cNvPr>
          <p:cNvSpPr txBox="1">
            <a:spLocks/>
          </p:cNvSpPr>
          <p:nvPr/>
        </p:nvSpPr>
        <p:spPr>
          <a:xfrm>
            <a:off x="6597863" y="2202292"/>
            <a:ext cx="4970745" cy="2954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60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60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/>
              <a:t>Mehr Grundlage </a:t>
            </a:r>
          </a:p>
          <a:p>
            <a:pPr lvl="1"/>
            <a:r>
              <a:rPr lang="de-DE" sz="1400" dirty="0"/>
              <a:t>Eine Spezifikation für „</a:t>
            </a:r>
            <a:r>
              <a:rPr lang="de-DE" sz="1400" dirty="0" err="1"/>
              <a:t>Social</a:t>
            </a:r>
            <a:r>
              <a:rPr lang="de-DE" sz="1400" dirty="0"/>
              <a:t> Time“</a:t>
            </a:r>
          </a:p>
          <a:p>
            <a:pPr lvl="1"/>
            <a:r>
              <a:rPr lang="de-DE" sz="1400" dirty="0"/>
              <a:t>Saubere (manuelle) Referenz-Implementierung</a:t>
            </a:r>
          </a:p>
          <a:p>
            <a:r>
              <a:rPr lang="de-DE" sz="1800" dirty="0"/>
              <a:t>Generierung von Code aus </a:t>
            </a:r>
            <a:r>
              <a:rPr lang="de-DE" sz="1800" dirty="0" err="1"/>
              <a:t>Spec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mit </a:t>
            </a:r>
            <a:r>
              <a:rPr lang="de-DE" sz="1800" dirty="0" err="1"/>
              <a:t>Junie</a:t>
            </a:r>
            <a:endParaRPr lang="de-DE" sz="1800" dirty="0"/>
          </a:p>
          <a:p>
            <a:r>
              <a:rPr lang="de-DE" sz="1800" dirty="0"/>
              <a:t>Sukzessive Verbesserung des Codes durch</a:t>
            </a:r>
          </a:p>
          <a:p>
            <a:pPr lvl="1"/>
            <a:r>
              <a:rPr lang="de-DE" sz="1400" dirty="0"/>
              <a:t>Individuelles Prompten</a:t>
            </a:r>
          </a:p>
          <a:p>
            <a:pPr lvl="1"/>
            <a:r>
              <a:rPr lang="de-DE" sz="1400" dirty="0"/>
              <a:t>Verallgemeinerung / Aufnahme in Regelwerk</a:t>
            </a:r>
          </a:p>
          <a:p>
            <a:endParaRPr lang="de-DE" sz="18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1AC7A44-9316-1AC5-415F-E584BC7970C8}"/>
              </a:ext>
            </a:extLst>
          </p:cNvPr>
          <p:cNvSpPr txBox="1"/>
          <p:nvPr/>
        </p:nvSpPr>
        <p:spPr>
          <a:xfrm>
            <a:off x="6416630" y="1442486"/>
            <a:ext cx="5150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2400" b="1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de-DE" dirty="0"/>
              <a:t>Dojo II: KI codet, wir unterstützen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51B0B79-0B63-1C93-271C-3B3E4B18177B}"/>
              </a:ext>
            </a:extLst>
          </p:cNvPr>
          <p:cNvSpPr txBox="1"/>
          <p:nvPr/>
        </p:nvSpPr>
        <p:spPr>
          <a:xfrm>
            <a:off x="6456040" y="5437012"/>
            <a:ext cx="3100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/>
              <a:t>Tobias und Jannik:</a:t>
            </a:r>
          </a:p>
          <a:p>
            <a:r>
              <a:rPr lang="de-DE" sz="1200" dirty="0"/>
              <a:t>Sind die Ideengeber, wenn es darum geht,</a:t>
            </a:r>
          </a:p>
          <a:p>
            <a:r>
              <a:rPr lang="de-DE" sz="1200" dirty="0"/>
              <a:t>die KI „schlau“ zu nutzen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133C9EA-E9A3-542A-5F15-3509522B54D4}"/>
              </a:ext>
            </a:extLst>
          </p:cNvPr>
          <p:cNvSpPr txBox="1"/>
          <p:nvPr/>
        </p:nvSpPr>
        <p:spPr>
          <a:xfrm>
            <a:off x="348707" y="1439020"/>
            <a:ext cx="4918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Dojo I: Wir coden, KI unterstützt</a:t>
            </a:r>
          </a:p>
        </p:txBody>
      </p:sp>
    </p:spTree>
    <p:extLst>
      <p:ext uri="{BB962C8B-B14F-4D97-AF65-F5344CB8AC3E}">
        <p14:creationId xmlns:p14="http://schemas.microsoft.com/office/powerpoint/2010/main" val="83711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4" grpId="0" animBg="1"/>
      <p:bldP spid="5" grpId="0" build="p"/>
      <p:bldP spid="11" grpId="0"/>
      <p:bldP spid="27" grpId="0"/>
      <p:bldP spid="28" grpId="0"/>
      <p:bldP spid="3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615338E-0157-1710-87D6-7DC7947C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49F-693F-4A8B-AD1F-042F2F274E90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2DBAE4-3201-920C-6084-14CC025F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2025 • S&amp;N Invent GmbH • All rights reserved.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101CD8-D30B-C744-74D8-2ECC597F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4B7216C-F717-A6E0-3151-48E70367A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061" y="3284984"/>
            <a:ext cx="5328592" cy="864096"/>
          </a:xfrm>
        </p:spPr>
        <p:txBody>
          <a:bodyPr/>
          <a:lstStyle/>
          <a:p>
            <a:r>
              <a:rPr lang="de-DE" dirty="0"/>
              <a:t>Erst für 2. Dojo:</a:t>
            </a:r>
            <a:br>
              <a:rPr lang="de-DE" dirty="0"/>
            </a:br>
            <a:r>
              <a:rPr lang="de-DE" dirty="0"/>
              <a:t>Design </a:t>
            </a:r>
            <a:r>
              <a:rPr lang="de-DE" dirty="0" err="1"/>
              <a:t>before</a:t>
            </a:r>
            <a:r>
              <a:rPr lang="de-DE" dirty="0"/>
              <a:t>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663512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A8292768-BB58-F29B-6B45-E1B457B9DE61}"/>
              </a:ext>
            </a:extLst>
          </p:cNvPr>
          <p:cNvSpPr/>
          <p:nvPr/>
        </p:nvSpPr>
        <p:spPr>
          <a:xfrm>
            <a:off x="329112" y="3397590"/>
            <a:ext cx="10159376" cy="210340"/>
          </a:xfrm>
          <a:prstGeom prst="rightArrow">
            <a:avLst>
              <a:gd name="adj1" fmla="val 100000"/>
              <a:gd name="adj2" fmla="val 53498"/>
            </a:avLst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DCD62EA-A0F7-4251-9E05-9C1BBFA5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49F-693F-4A8B-AD1F-042F2F274E90}" type="datetime1">
              <a:rPr lang="de-DE" smtClean="0"/>
              <a:t>12.06.2025</a:t>
            </a:fld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450D58-C923-4965-BE36-8F20DD54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E6B3330-F19B-4AC8-9189-FFB7B8364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Spezifikation = Design </a:t>
            </a:r>
            <a:r>
              <a:rPr lang="de-DE" dirty="0" err="1"/>
              <a:t>before</a:t>
            </a:r>
            <a:r>
              <a:rPr lang="de-DE" dirty="0"/>
              <a:t> Implementation</a:t>
            </a:r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A576D1F4-18EB-4DB4-BB18-248EE623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6713" y="6561601"/>
            <a:ext cx="8647289" cy="92333"/>
          </a:xfrm>
        </p:spPr>
        <p:txBody>
          <a:bodyPr/>
          <a:lstStyle/>
          <a:p>
            <a:r>
              <a:rPr lang="en-US" dirty="0"/>
              <a:t>© Copyright 2025 • S&amp;N Invent GmbH • All rights reserved.</a:t>
            </a:r>
            <a:endParaRPr lang="de-DE" dirty="0"/>
          </a:p>
        </p:txBody>
      </p:sp>
      <p:sp>
        <p:nvSpPr>
          <p:cNvPr id="8" name="Pfeil: Chevron 7">
            <a:extLst>
              <a:ext uri="{FF2B5EF4-FFF2-40B4-BE49-F238E27FC236}">
                <a16:creationId xmlns:a16="http://schemas.microsoft.com/office/drawing/2014/main" id="{4523CC4B-EA09-CFDE-45D5-291E9AE10D63}"/>
              </a:ext>
            </a:extLst>
          </p:cNvPr>
          <p:cNvSpPr/>
          <p:nvPr/>
        </p:nvSpPr>
        <p:spPr>
          <a:xfrm>
            <a:off x="846312" y="2244914"/>
            <a:ext cx="2088232" cy="1080120"/>
          </a:xfrm>
          <a:prstGeom prst="chevron">
            <a:avLst>
              <a:gd name="adj" fmla="val 26529"/>
            </a:avLst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de-DE" sz="2000" dirty="0"/>
          </a:p>
          <a:p>
            <a:pPr algn="ctr"/>
            <a:r>
              <a:rPr lang="de-DE" sz="2000" dirty="0"/>
              <a:t>Kunden-wunsch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Pfeil: Chevron 11">
            <a:extLst>
              <a:ext uri="{FF2B5EF4-FFF2-40B4-BE49-F238E27FC236}">
                <a16:creationId xmlns:a16="http://schemas.microsoft.com/office/drawing/2014/main" id="{D03779AC-557C-FD34-4526-C4662C712030}"/>
              </a:ext>
            </a:extLst>
          </p:cNvPr>
          <p:cNvSpPr/>
          <p:nvPr/>
        </p:nvSpPr>
        <p:spPr>
          <a:xfrm>
            <a:off x="2807784" y="2248483"/>
            <a:ext cx="2088232" cy="1080120"/>
          </a:xfrm>
          <a:prstGeom prst="chevron">
            <a:avLst>
              <a:gd name="adj" fmla="val 26529"/>
            </a:avLst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de-DE" sz="2000" dirty="0"/>
          </a:p>
          <a:p>
            <a:pPr algn="ctr"/>
            <a:r>
              <a:rPr lang="de-DE" sz="2000" dirty="0"/>
              <a:t>Ortstermin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Pfeil: Chevron 12">
            <a:extLst>
              <a:ext uri="{FF2B5EF4-FFF2-40B4-BE49-F238E27FC236}">
                <a16:creationId xmlns:a16="http://schemas.microsoft.com/office/drawing/2014/main" id="{21D7F417-3054-A005-6CB6-F577A9F84A22}"/>
              </a:ext>
            </a:extLst>
          </p:cNvPr>
          <p:cNvSpPr/>
          <p:nvPr/>
        </p:nvSpPr>
        <p:spPr>
          <a:xfrm>
            <a:off x="4743949" y="2253521"/>
            <a:ext cx="2088232" cy="1080120"/>
          </a:xfrm>
          <a:prstGeom prst="chevron">
            <a:avLst>
              <a:gd name="adj" fmla="val 26529"/>
            </a:avLst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de-DE" sz="2000" dirty="0"/>
          </a:p>
          <a:p>
            <a:pPr algn="ctr"/>
            <a:r>
              <a:rPr lang="de-DE" sz="2000" dirty="0"/>
              <a:t>Entwurf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Pfeil: Chevron 14">
            <a:extLst>
              <a:ext uri="{FF2B5EF4-FFF2-40B4-BE49-F238E27FC236}">
                <a16:creationId xmlns:a16="http://schemas.microsoft.com/office/drawing/2014/main" id="{722D41A9-D13E-FEC4-F1C2-BA0634BA551F}"/>
              </a:ext>
            </a:extLst>
          </p:cNvPr>
          <p:cNvSpPr/>
          <p:nvPr/>
        </p:nvSpPr>
        <p:spPr>
          <a:xfrm>
            <a:off x="6672064" y="2249525"/>
            <a:ext cx="2088232" cy="1080120"/>
          </a:xfrm>
          <a:prstGeom prst="chevron">
            <a:avLst>
              <a:gd name="adj" fmla="val 26529"/>
            </a:avLst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de-DE" sz="2000" dirty="0"/>
          </a:p>
          <a:p>
            <a:pPr algn="ctr"/>
            <a:r>
              <a:rPr lang="de-DE" sz="2000" dirty="0"/>
              <a:t>Umsetzung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Pfeil: Chevron 15">
            <a:extLst>
              <a:ext uri="{FF2B5EF4-FFF2-40B4-BE49-F238E27FC236}">
                <a16:creationId xmlns:a16="http://schemas.microsoft.com/office/drawing/2014/main" id="{7DB4E27C-C2C7-0013-5B8D-ECCD4A9C19C0}"/>
              </a:ext>
            </a:extLst>
          </p:cNvPr>
          <p:cNvSpPr/>
          <p:nvPr/>
        </p:nvSpPr>
        <p:spPr>
          <a:xfrm>
            <a:off x="8616280" y="2244914"/>
            <a:ext cx="2088232" cy="1080120"/>
          </a:xfrm>
          <a:prstGeom prst="chevron">
            <a:avLst>
              <a:gd name="adj" fmla="val 26529"/>
            </a:avLst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de-DE" sz="2000" dirty="0"/>
          </a:p>
          <a:p>
            <a:pPr algn="ctr"/>
            <a:r>
              <a:rPr lang="de-DE" sz="2000" dirty="0"/>
              <a:t>Bau-abnahme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D8B12D0-9DAD-A95F-A02F-A04DE541D391}"/>
              </a:ext>
            </a:extLst>
          </p:cNvPr>
          <p:cNvSpPr/>
          <p:nvPr/>
        </p:nvSpPr>
        <p:spPr>
          <a:xfrm>
            <a:off x="973213" y="1516839"/>
            <a:ext cx="1522387" cy="8845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>
                    <a:lumMod val="75000"/>
                  </a:schemeClr>
                </a:solidFill>
              </a:rPr>
              <a:t>Eine Terrasse nach Süden raus mit direktem Zugang aus dem Wohnzimmer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1E5EA9C-6014-0BBE-94F8-A71B11CAA03E}"/>
              </a:ext>
            </a:extLst>
          </p:cNvPr>
          <p:cNvSpPr/>
          <p:nvPr/>
        </p:nvSpPr>
        <p:spPr>
          <a:xfrm>
            <a:off x="1232905" y="3248118"/>
            <a:ext cx="1085229" cy="5550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>
                    <a:lumMod val="75000"/>
                  </a:schemeClr>
                </a:solidFill>
              </a:rPr>
              <a:t>Beschreibung „mit Händen und Füßen“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F4F8316-1838-5E36-B8E2-ADE2A0EF8D49}"/>
              </a:ext>
            </a:extLst>
          </p:cNvPr>
          <p:cNvSpPr/>
          <p:nvPr/>
        </p:nvSpPr>
        <p:spPr>
          <a:xfrm>
            <a:off x="3061792" y="1516839"/>
            <a:ext cx="1394792" cy="8845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>
                    <a:lumMod val="75000"/>
                  </a:schemeClr>
                </a:solidFill>
              </a:rPr>
              <a:t>Architekt kommt vorbei und bringt Pflasterer und Fensterbauer mit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7E4C994-1E45-CB29-7F83-E816B0273124}"/>
              </a:ext>
            </a:extLst>
          </p:cNvPr>
          <p:cNvSpPr/>
          <p:nvPr/>
        </p:nvSpPr>
        <p:spPr>
          <a:xfrm>
            <a:off x="3177121" y="3227015"/>
            <a:ext cx="1085229" cy="7676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>
                    <a:lumMod val="75000"/>
                  </a:schemeClr>
                </a:solidFill>
              </a:rPr>
              <a:t>Ein paar Skizzen und handschrift-</a:t>
            </a:r>
            <a:r>
              <a:rPr lang="de-DE" sz="1100" dirty="0" err="1">
                <a:solidFill>
                  <a:schemeClr val="tx1">
                    <a:lumMod val="75000"/>
                  </a:schemeClr>
                </a:solidFill>
              </a:rPr>
              <a:t>liche</a:t>
            </a:r>
            <a:r>
              <a:rPr lang="de-DE" sz="1100" dirty="0">
                <a:solidFill>
                  <a:schemeClr val="tx1">
                    <a:lumMod val="75000"/>
                  </a:schemeClr>
                </a:solidFill>
              </a:rPr>
              <a:t> Notizen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67EA686-356C-B2AD-3445-83E927702A7D}"/>
              </a:ext>
            </a:extLst>
          </p:cNvPr>
          <p:cNvSpPr/>
          <p:nvPr/>
        </p:nvSpPr>
        <p:spPr>
          <a:xfrm>
            <a:off x="5002560" y="3175881"/>
            <a:ext cx="1309464" cy="8732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>
                    <a:lumMod val="75000"/>
                  </a:schemeClr>
                </a:solidFill>
              </a:rPr>
              <a:t>Detaillierte Bauzeichnung mit Bemaßungen, vom Bauherrn freizugeben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5EA5588-315A-EAA5-71C1-047F9D5FAFB1}"/>
              </a:ext>
            </a:extLst>
          </p:cNvPr>
          <p:cNvSpPr/>
          <p:nvPr/>
        </p:nvSpPr>
        <p:spPr>
          <a:xfrm>
            <a:off x="6946776" y="1543457"/>
            <a:ext cx="1394792" cy="9106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>
                    <a:lumMod val="75000"/>
                  </a:schemeClr>
                </a:solidFill>
              </a:rPr>
              <a:t>Baumaßnahme nach den Regeln der Handwerks-kunst UND…</a:t>
            </a:r>
          </a:p>
          <a:p>
            <a:r>
              <a:rPr lang="de-DE" sz="1100" dirty="0">
                <a:solidFill>
                  <a:schemeClr val="tx1">
                    <a:lumMod val="75000"/>
                  </a:schemeClr>
                </a:solidFill>
              </a:rPr>
              <a:t>der Bauzeichnung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6CE045F-58B9-221D-807E-D1385FEEA273}"/>
              </a:ext>
            </a:extLst>
          </p:cNvPr>
          <p:cNvSpPr/>
          <p:nvPr/>
        </p:nvSpPr>
        <p:spPr>
          <a:xfrm>
            <a:off x="7177919" y="3213782"/>
            <a:ext cx="890017" cy="566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>
                    <a:lumMod val="75000"/>
                  </a:schemeClr>
                </a:solidFill>
              </a:rPr>
              <a:t>Die Terrasse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F377EB4-8892-4473-148D-5E76212829CC}"/>
              </a:ext>
            </a:extLst>
          </p:cNvPr>
          <p:cNvSpPr/>
          <p:nvPr/>
        </p:nvSpPr>
        <p:spPr>
          <a:xfrm>
            <a:off x="9120336" y="3187688"/>
            <a:ext cx="890017" cy="566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>
                    <a:lumMod val="75000"/>
                  </a:schemeClr>
                </a:solidFill>
              </a:rPr>
              <a:t>Endgültige Bezahlung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0095B18-6DA2-D9DB-0823-470723321373}"/>
              </a:ext>
            </a:extLst>
          </p:cNvPr>
          <p:cNvSpPr/>
          <p:nvPr/>
        </p:nvSpPr>
        <p:spPr>
          <a:xfrm>
            <a:off x="8889912" y="1470116"/>
            <a:ext cx="1394792" cy="9106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>
                    <a:lumMod val="75000"/>
                  </a:schemeClr>
                </a:solidFill>
              </a:rPr>
              <a:t>Prüfung auf Einhaltung der handwerklichen Sorgfalt UND…</a:t>
            </a:r>
          </a:p>
          <a:p>
            <a:r>
              <a:rPr lang="de-DE" sz="1100" dirty="0">
                <a:solidFill>
                  <a:schemeClr val="tx1">
                    <a:lumMod val="75000"/>
                  </a:schemeClr>
                </a:solidFill>
              </a:rPr>
              <a:t>der  Bauzeichnung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7FF0BA4-635F-F5C5-CDAF-C517669281C3}"/>
              </a:ext>
            </a:extLst>
          </p:cNvPr>
          <p:cNvSpPr txBox="1"/>
          <p:nvPr/>
        </p:nvSpPr>
        <p:spPr>
          <a:xfrm>
            <a:off x="322327" y="3379649"/>
            <a:ext cx="8130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Ergebnisse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CF478221-199D-AF4C-0FED-FB0D256F3434}"/>
              </a:ext>
            </a:extLst>
          </p:cNvPr>
          <p:cNvSpPr txBox="1"/>
          <p:nvPr/>
        </p:nvSpPr>
        <p:spPr>
          <a:xfrm>
            <a:off x="4763943" y="1509957"/>
            <a:ext cx="1856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 err="1"/>
              <a:t>Craftsmanship</a:t>
            </a:r>
            <a:endParaRPr lang="de-DE" sz="2000" b="1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71190BC-F846-BBC2-5180-21DB908E3AC9}"/>
              </a:ext>
            </a:extLst>
          </p:cNvPr>
          <p:cNvGrpSpPr/>
          <p:nvPr/>
        </p:nvGrpSpPr>
        <p:grpSpPr>
          <a:xfrm>
            <a:off x="751379" y="4282226"/>
            <a:ext cx="9953133" cy="1739062"/>
            <a:chOff x="751379" y="4282226"/>
            <a:chExt cx="9953133" cy="1739062"/>
          </a:xfrm>
        </p:grpSpPr>
        <p:sp>
          <p:nvSpPr>
            <p:cNvPr id="29" name="Pfeil: Chevron 28">
              <a:extLst>
                <a:ext uri="{FF2B5EF4-FFF2-40B4-BE49-F238E27FC236}">
                  <a16:creationId xmlns:a16="http://schemas.microsoft.com/office/drawing/2014/main" id="{A85A51D4-C46E-0891-FD98-89FF220F8E2F}"/>
                </a:ext>
              </a:extLst>
            </p:cNvPr>
            <p:cNvSpPr/>
            <p:nvPr/>
          </p:nvSpPr>
          <p:spPr>
            <a:xfrm>
              <a:off x="846312" y="4690850"/>
              <a:ext cx="2088232" cy="1080120"/>
            </a:xfrm>
            <a:prstGeom prst="chevron">
              <a:avLst>
                <a:gd name="adj" fmla="val 26529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de-DE" sz="2000" dirty="0"/>
            </a:p>
            <a:p>
              <a:pPr algn="ctr"/>
              <a:r>
                <a:rPr lang="de-DE" sz="2000" dirty="0"/>
                <a:t>Change</a:t>
              </a:r>
            </a:p>
            <a:p>
              <a:pPr algn="ctr"/>
              <a:r>
                <a:rPr lang="de-DE" sz="2000" dirty="0"/>
                <a:t>Request</a:t>
              </a:r>
            </a:p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Pfeil: Chevron 29">
              <a:extLst>
                <a:ext uri="{FF2B5EF4-FFF2-40B4-BE49-F238E27FC236}">
                  <a16:creationId xmlns:a16="http://schemas.microsoft.com/office/drawing/2014/main" id="{1ACD9667-B1FA-D522-12C2-FA5D1286A847}"/>
                </a:ext>
              </a:extLst>
            </p:cNvPr>
            <p:cNvSpPr/>
            <p:nvPr/>
          </p:nvSpPr>
          <p:spPr>
            <a:xfrm>
              <a:off x="2788920" y="4686863"/>
              <a:ext cx="2088232" cy="1080120"/>
            </a:xfrm>
            <a:prstGeom prst="chevron">
              <a:avLst>
                <a:gd name="adj" fmla="val 26529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de-DE" sz="2000" dirty="0"/>
            </a:p>
            <a:p>
              <a:pPr algn="ctr"/>
              <a:r>
                <a:rPr lang="de-DE" sz="2000" dirty="0" err="1"/>
                <a:t>Refinement</a:t>
              </a:r>
              <a:endParaRPr lang="de-DE" sz="2000" dirty="0"/>
            </a:p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1" name="Pfeil: Chevron 30">
              <a:extLst>
                <a:ext uri="{FF2B5EF4-FFF2-40B4-BE49-F238E27FC236}">
                  <a16:creationId xmlns:a16="http://schemas.microsoft.com/office/drawing/2014/main" id="{22BCD251-A12D-9382-7780-746A2E996C6E}"/>
                </a:ext>
              </a:extLst>
            </p:cNvPr>
            <p:cNvSpPr/>
            <p:nvPr/>
          </p:nvSpPr>
          <p:spPr>
            <a:xfrm>
              <a:off x="4731373" y="4690850"/>
              <a:ext cx="2088232" cy="1080120"/>
            </a:xfrm>
            <a:prstGeom prst="chevron">
              <a:avLst>
                <a:gd name="adj" fmla="val 26529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de-DE" sz="2000" dirty="0"/>
            </a:p>
            <a:p>
              <a:pPr algn="ctr"/>
              <a:r>
                <a:rPr lang="de-DE" sz="32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?</a:t>
              </a:r>
            </a:p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2" name="Pfeil: Chevron 31">
              <a:extLst>
                <a:ext uri="{FF2B5EF4-FFF2-40B4-BE49-F238E27FC236}">
                  <a16:creationId xmlns:a16="http://schemas.microsoft.com/office/drawing/2014/main" id="{45B47365-D35F-BB0C-46EF-1950C2F220C5}"/>
                </a:ext>
              </a:extLst>
            </p:cNvPr>
            <p:cNvSpPr/>
            <p:nvPr/>
          </p:nvSpPr>
          <p:spPr>
            <a:xfrm>
              <a:off x="6672064" y="4702657"/>
              <a:ext cx="2088232" cy="1080120"/>
            </a:xfrm>
            <a:prstGeom prst="chevron">
              <a:avLst>
                <a:gd name="adj" fmla="val 26529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de-DE" sz="2000" dirty="0"/>
            </a:p>
            <a:p>
              <a:pPr algn="ctr"/>
              <a:r>
                <a:rPr lang="de-DE" sz="2000" dirty="0" err="1"/>
                <a:t>Implemen-tierung</a:t>
              </a:r>
              <a:endParaRPr lang="de-DE" sz="2000" dirty="0"/>
            </a:p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3" name="Pfeil: Chevron 32">
              <a:extLst>
                <a:ext uri="{FF2B5EF4-FFF2-40B4-BE49-F238E27FC236}">
                  <a16:creationId xmlns:a16="http://schemas.microsoft.com/office/drawing/2014/main" id="{98892B3B-6C34-827D-9635-A38513A38425}"/>
                </a:ext>
              </a:extLst>
            </p:cNvPr>
            <p:cNvSpPr/>
            <p:nvPr/>
          </p:nvSpPr>
          <p:spPr>
            <a:xfrm>
              <a:off x="8616280" y="4701530"/>
              <a:ext cx="2088232" cy="1080120"/>
            </a:xfrm>
            <a:prstGeom prst="chevron">
              <a:avLst>
                <a:gd name="adj" fmla="val 26529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de-DE" sz="2000" dirty="0"/>
            </a:p>
            <a:p>
              <a:pPr algn="ctr"/>
              <a:r>
                <a:rPr lang="de-DE" sz="2000" dirty="0"/>
                <a:t>Akzeptanz-test</a:t>
              </a:r>
            </a:p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6738E563-6448-29A0-A8FD-C14905D10A50}"/>
                </a:ext>
              </a:extLst>
            </p:cNvPr>
            <p:cNvSpPr txBox="1"/>
            <p:nvPr/>
          </p:nvSpPr>
          <p:spPr>
            <a:xfrm>
              <a:off x="751379" y="4282226"/>
              <a:ext cx="29402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b="1" dirty="0"/>
                <a:t>Software </a:t>
              </a:r>
              <a:r>
                <a:rPr lang="de-DE" sz="2000" b="1" dirty="0" err="1"/>
                <a:t>Craftsmanship</a:t>
              </a:r>
              <a:endParaRPr lang="de-DE" sz="2000" b="1" dirty="0"/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A3508D3-D3E2-FE35-F9AB-143FE218DA85}"/>
                </a:ext>
              </a:extLst>
            </p:cNvPr>
            <p:cNvSpPr txBox="1"/>
            <p:nvPr/>
          </p:nvSpPr>
          <p:spPr>
            <a:xfrm>
              <a:off x="1232905" y="5775067"/>
              <a:ext cx="804021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000" dirty="0"/>
                <a:t>Design </a:t>
              </a:r>
              <a:r>
                <a:rPr lang="de-DE" sz="1000" dirty="0" err="1"/>
                <a:t>before</a:t>
              </a:r>
              <a:r>
                <a:rPr lang="de-DE" sz="1000" dirty="0"/>
                <a:t> Implementation: https://clean-code-developer.de/en/the-straight/blue-degree/#elementor-toc__heading-anchor-5</a:t>
              </a:r>
            </a:p>
          </p:txBody>
        </p:sp>
      </p:grpSp>
      <p:sp>
        <p:nvSpPr>
          <p:cNvPr id="5" name="Textfeld 4">
            <a:extLst>
              <a:ext uri="{FF2B5EF4-FFF2-40B4-BE49-F238E27FC236}">
                <a16:creationId xmlns:a16="http://schemas.microsoft.com/office/drawing/2014/main" id="{16FDA4B5-FDE3-B5D8-39A0-BDBC7C45E5E6}"/>
              </a:ext>
            </a:extLst>
          </p:cNvPr>
          <p:cNvSpPr txBox="1"/>
          <p:nvPr/>
        </p:nvSpPr>
        <p:spPr>
          <a:xfrm rot="20912112">
            <a:off x="5039329" y="5026868"/>
            <a:ext cx="1635384" cy="40011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de-DE" sz="2000" b="1" dirty="0"/>
              <a:t>Spezifikation</a:t>
            </a:r>
          </a:p>
        </p:txBody>
      </p:sp>
    </p:spTree>
    <p:extLst>
      <p:ext uri="{BB962C8B-B14F-4D97-AF65-F5344CB8AC3E}">
        <p14:creationId xmlns:p14="http://schemas.microsoft.com/office/powerpoint/2010/main" val="408394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S&amp;N Design">
  <a:themeElements>
    <a:clrScheme name="S&amp;N Group Farbenwelt Final">
      <a:dk1>
        <a:srgbClr val="54606C"/>
      </a:dk1>
      <a:lt1>
        <a:srgbClr val="FFFFFF"/>
      </a:lt1>
      <a:dk2>
        <a:srgbClr val="FFFFFF"/>
      </a:dk2>
      <a:lt2>
        <a:srgbClr val="3C5F78"/>
      </a:lt2>
      <a:accent1>
        <a:srgbClr val="F49927"/>
      </a:accent1>
      <a:accent2>
        <a:srgbClr val="54606D"/>
      </a:accent2>
      <a:accent3>
        <a:srgbClr val="274889"/>
      </a:accent3>
      <a:accent4>
        <a:srgbClr val="008DD2"/>
      </a:accent4>
      <a:accent5>
        <a:srgbClr val="FEDC14"/>
      </a:accent5>
      <a:accent6>
        <a:srgbClr val="78DA7E"/>
      </a:accent6>
      <a:hlink>
        <a:srgbClr val="F49927"/>
      </a:hlink>
      <a:folHlink>
        <a:srgbClr val="3C5F78"/>
      </a:folHlink>
    </a:clrScheme>
    <a:fontScheme name="SN Invent 2021">
      <a:majorFont>
        <a:latin typeface="Open Sans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9525" cap="flat" cmpd="sng" algn="ctr">
          <a:noFill/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000" b="1" i="0" u="none" strike="noStrike" kern="0" cap="none" spc="0" normalizeH="0" baseline="0" noProof="0" dirty="0">
            <a:ln>
              <a:noFill/>
            </a:ln>
            <a:effectLst/>
            <a:uLnTx/>
            <a:uFillTx/>
            <a:latin typeface="Arial" panose="020B0604020202020204"/>
            <a:ea typeface="+mn-ea"/>
            <a:cs typeface="Arial" panose="020B0604020202020204" pitchFamily="34" charset="0"/>
          </a:defRPr>
        </a:defPPr>
      </a:lstStyle>
    </a:spDef>
    <a:lnDef>
      <a:spPr>
        <a:ln/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07-011 Vorlage Präsentation 16-9.potx" id="{13FE35D0-E1FE-440B-8EFE-1497F85DA2F9}" vid="{3F66EBA3-0BEF-4253-B4F8-FEA49A33AD4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ba2c390-782e-48d2-92a4-4ceacf62dc83">SNID-180-47</_dlc_DocId>
    <_dlc_DocIdUrl xmlns="3ba2c390-782e-48d2-92a4-4ceacf62dc83">
      <Url>https://intranet.sn-invent.de/iqm/_layouts/15/DocIdRedir.aspx?ID=SNID-180-47</Url>
      <Description>SNID-180-47</Description>
    </_dlc_DocIdUrl>
    <Prozessthema xmlns="3ba2c390-782e-48d2-92a4-4ceacf62dc83">./.</Prozessthema>
    <alle xmlns="b5c6ba39-e055-4528-8d96-942d43fd41f6">true</alle>
    <Ablageort xmlns="b5c6ba39-e055-4528-8d96-942d43fd41f6" xsi:nil="true"/>
    <DLCPolicyLabelClientValue xmlns="1561a55d-4589-43de-94bb-8dded3e84ec0" xsi:nil="true"/>
    <Archiv xmlns="b5c6ba39-e055-4528-8d96-942d43fd41f6">false</Archiv>
    <DLCPolicyLabelLock xmlns="1561a55d-4589-43de-94bb-8dded3e84ec0" xsi:nil="true"/>
    <VA xmlns="b5c6ba39-e055-4528-8d96-942d43fd41f6" xsi:nil="true"/>
    <Vers_x002e_ xmlns="b5c6ba39-e055-4528-8d96-942d43fd41f6" xsi:nil="true"/>
    <Besitzer xmlns="b5c6ba39-e055-4528-8d96-942d43fd41f6">
      <UserInfo>
        <DisplayName>Heyne, Nicole</DisplayName>
        <AccountId>147</AccountId>
        <AccountType/>
      </UserInfo>
    </Besitzer>
    <Speichername xmlns="b5c6ba39-e055-4528-8d96-942d43fd41f6">VI07-003 Vorlage Präsentation</Speichername>
    <Archivierungsgrund xmlns="1561a55d-4589-43de-94bb-8dded3e84ec0" xsi:nil="true"/>
    <Prozessgruppe xmlns="3ba2c390-782e-48d2-92a4-4ceacf62dc83">Marketing</Prozessgruppe>
    <Frist xmlns="b5c6ba39-e055-4528-8d96-942d43fd41f6">10</Frist>
    <VI xmlns="b5c6ba39-e055-4528-8d96-942d43fd41f6">VI07-035</VI>
    <Kunde xmlns="b5c6ba39-e055-4528-8d96-942d43fd41f6">Geben Sie Auswahl Nr. 1 ein</Kunde>
    <DLCPolicyLabelValue xmlns="1561a55d-4589-43de-94bb-8dded3e84ec0">v.11.0</DLCPolicyLabelValue>
  </documentManagement>
</p:properties>
</file>

<file path=customXml/item2.xml><?xml version="1.0" encoding="utf-8"?>
<?mso-contentType ?>
<p:Policy xmlns:p="office.server.policy" id="" local="true">
  <p:Name>Dokument</p:Name>
  <p:Description/>
  <p:Statement/>
  <p:PolicyItems>
    <p:PolicyItem featureId="Microsoft.Office.RecordsManagement.PolicyFeatures.PolicyLabel" staticId="0x010100EF5765CEE729E1418BE065284ADE3D31|2097993778" UniqueId="018cb3dd-2760-4978-a79e-fe94012d8686">
      <p:Name>Bezeichnungen</p:Name>
      <p:Description>Generiert Bezeichnungen, die in Microsoft Office-Dokumente eingefügt werden können, um sicherzustellen, dass Dokumenteigenschaften oder sonstige wichtige Informationen beim Drucken von Dokumenten enthalten sind. Bezeichnungen können auch für die Suche nach Dokumenten verwendet werden.</p:Description>
      <p:CustomData>
        <label>
          <properties>
            <lock>True</lock>
          </properties>
          <segment type="literal">v.</segment>
          <segment type="metadata">_UIVersionString</segment>
        </label>
      </p:CustomData>
    </p:PolicyItem>
  </p:PolicyItems>
</p:Policy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F5765CEE729E1418BE065284ADE3D31" ma:contentTypeVersion="29" ma:contentTypeDescription="Ein neues Dokument erstellen." ma:contentTypeScope="" ma:versionID="3d50e400cca5a7bd800a74eb9a530f8f">
  <xsd:schema xmlns:xsd="http://www.w3.org/2001/XMLSchema" xmlns:xs="http://www.w3.org/2001/XMLSchema" xmlns:p="http://schemas.microsoft.com/office/2006/metadata/properties" xmlns:ns1="http://schemas.microsoft.com/sharepoint/v3" xmlns:ns2="b5c6ba39-e055-4528-8d96-942d43fd41f6" xmlns:ns3="3ba2c390-782e-48d2-92a4-4ceacf62dc83" xmlns:ns4="1561a55d-4589-43de-94bb-8dded3e84ec0" targetNamespace="http://schemas.microsoft.com/office/2006/metadata/properties" ma:root="true" ma:fieldsID="5a6f0763cb74c2d9ba07ecaec821d4b1" ns1:_="" ns2:_="" ns3:_="" ns4:_="">
    <xsd:import namespace="http://schemas.microsoft.com/sharepoint/v3"/>
    <xsd:import namespace="b5c6ba39-e055-4528-8d96-942d43fd41f6"/>
    <xsd:import namespace="3ba2c390-782e-48d2-92a4-4ceacf62dc83"/>
    <xsd:import namespace="1561a55d-4589-43de-94bb-8dded3e84ec0"/>
    <xsd:element name="properties">
      <xsd:complexType>
        <xsd:sequence>
          <xsd:element name="documentManagement">
            <xsd:complexType>
              <xsd:all>
                <xsd:element ref="ns2:VI" minOccurs="0"/>
                <xsd:element ref="ns3:Prozessgruppe"/>
                <xsd:element ref="ns3:Prozessthema" minOccurs="0"/>
                <xsd:element ref="ns2:alle" minOccurs="0"/>
                <xsd:element ref="ns2:Besitzer" minOccurs="0"/>
                <xsd:element ref="ns2:Archiv" minOccurs="0"/>
                <xsd:element ref="ns4:Archivierungsgrund" minOccurs="0"/>
                <xsd:element ref="ns2:Frist" minOccurs="0"/>
                <xsd:element ref="ns2:Kunde" minOccurs="0"/>
                <xsd:element ref="ns2:Ablageort" minOccurs="0"/>
                <xsd:element ref="ns2:Speichername" minOccurs="0"/>
                <xsd:element ref="ns2:VA" minOccurs="0"/>
                <xsd:element ref="ns2:Vers_x002e_" minOccurs="0"/>
                <xsd:element ref="ns3:_dlc_DocId" minOccurs="0"/>
                <xsd:element ref="ns3:_dlc_DocIdUrl" minOccurs="0"/>
                <xsd:element ref="ns3:_dlc_DocIdPersistId" minOccurs="0"/>
                <xsd:element ref="ns1:_dlc_Exempt" minOccurs="0"/>
                <xsd:element ref="ns4:DLCPolicyLabelValue" minOccurs="0"/>
                <xsd:element ref="ns4:DLCPolicyLabelClientValue" minOccurs="0"/>
                <xsd:element ref="ns4:DLCPolicyLabelLoc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24" nillable="true" ma:displayName="Von der Richtlinie ausgenommen" ma:hidden="true" ma:internalName="_dlc_Exempt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c6ba39-e055-4528-8d96-942d43fd41f6" elementFormDefault="qualified">
    <xsd:import namespace="http://schemas.microsoft.com/office/2006/documentManagement/types"/>
    <xsd:import namespace="http://schemas.microsoft.com/office/infopath/2007/PartnerControls"/>
    <xsd:element name="VI" ma:index="2" nillable="true" ma:displayName="QMID" ma:internalName="VI">
      <xsd:simpleType>
        <xsd:restriction base="dms:Text">
          <xsd:maxLength value="8"/>
        </xsd:restriction>
      </xsd:simpleType>
    </xsd:element>
    <xsd:element name="alle" ma:index="5" nillable="true" ma:displayName="alle" ma:default="1" ma:internalName="alle">
      <xsd:simpleType>
        <xsd:restriction base="dms:Boolean"/>
      </xsd:simpleType>
    </xsd:element>
    <xsd:element name="Besitzer" ma:index="6" nillable="true" ma:displayName="Besitzer" ma:list="UserInfo" ma:SharePointGroup="0" ma:internalName="Besitz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rchiv" ma:index="7" nillable="true" ma:displayName="Archiv" ma:default="0" ma:internalName="Archiv">
      <xsd:simpleType>
        <xsd:restriction base="dms:Boolean"/>
      </xsd:simpleType>
    </xsd:element>
    <xsd:element name="Frist" ma:index="9" nillable="true" ma:displayName="Frist" ma:decimals="0" ma:default="10" ma:internalName="Frist">
      <xsd:simpleType>
        <xsd:restriction base="dms:Number"/>
      </xsd:simpleType>
    </xsd:element>
    <xsd:element name="Kunde" ma:index="10" nillable="true" ma:displayName="Kunde" ma:default="Geben Sie Auswahl Nr. 1 ein" ma:format="Dropdown" ma:internalName="Kunde">
      <xsd:simpleType>
        <xsd:union memberTypes="dms:Text">
          <xsd:simpleType>
            <xsd:restriction base="dms:Choice">
              <xsd:enumeration value="Geben Sie Auswahl Nr. 1 ein"/>
              <xsd:enumeration value="Geben Sie Auswahl Nr. 2 ein."/>
              <xsd:enumeration value="Geben Sie Auswahl Nr. 3 ein."/>
            </xsd:restriction>
          </xsd:simpleType>
        </xsd:union>
      </xsd:simpleType>
    </xsd:element>
    <xsd:element name="Ablageort" ma:index="11" nillable="true" ma:displayName="Ablageort" ma:internalName="Ablageort">
      <xsd:simpleType>
        <xsd:restriction base="dms:Text">
          <xsd:maxLength value="255"/>
        </xsd:restriction>
      </xsd:simpleType>
    </xsd:element>
    <xsd:element name="Speichername" ma:index="12" nillable="true" ma:displayName="Speichername" ma:internalName="Speichername">
      <xsd:simpleType>
        <xsd:restriction base="dms:Text">
          <xsd:maxLength value="255"/>
        </xsd:restriction>
      </xsd:simpleType>
    </xsd:element>
    <xsd:element name="VA" ma:index="13" nillable="true" ma:displayName="VA" ma:internalName="VA">
      <xsd:simpleType>
        <xsd:restriction base="dms:Text">
          <xsd:maxLength value="6"/>
        </xsd:restriction>
      </xsd:simpleType>
    </xsd:element>
    <xsd:element name="Vers_x002e_" ma:index="14" nillable="true" ma:displayName="Vers." ma:internalName="Vers_x002e_">
      <xsd:simpleType>
        <xsd:restriction base="dms:Text">
          <xsd:maxLength value="6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a2c390-782e-48d2-92a4-4ceacf62dc83" elementFormDefault="qualified">
    <xsd:import namespace="http://schemas.microsoft.com/office/2006/documentManagement/types"/>
    <xsd:import namespace="http://schemas.microsoft.com/office/infopath/2007/PartnerControls"/>
    <xsd:element name="Prozessgruppe" ma:index="3" ma:displayName="Prozessgruppe" ma:format="Dropdown" ma:internalName="Prozessgruppe">
      <xsd:simpleType>
        <xsd:restriction base="dms:Choice">
          <xsd:enumeration value="Allgemeines"/>
          <xsd:enumeration value="Accounting"/>
          <xsd:enumeration value="Arbeitssicherheit"/>
          <xsd:enumeration value="Bestellwesen"/>
          <xsd:enumeration value="Compliance &amp; Vertragsmanagement"/>
          <xsd:enumeration value="Controlling"/>
          <xsd:enumeration value="Datenschutz"/>
          <xsd:enumeration value="Flottenmanagement"/>
          <xsd:enumeration value="Interne IT"/>
          <xsd:enumeration value="Marketing"/>
          <xsd:enumeration value="Partnermanagement"/>
          <xsd:enumeration value="Personal"/>
          <xsd:enumeration value="Produktmanagement"/>
          <xsd:enumeration value="Projekte"/>
          <xsd:enumeration value="Qualitätsmanagement"/>
          <xsd:enumeration value="Ressourcenmanagement"/>
          <xsd:enumeration value="Strategie &amp; Ziele"/>
          <xsd:enumeration value="Vertragsmanagement"/>
          <xsd:enumeration value="Vertrieb"/>
        </xsd:restriction>
      </xsd:simpleType>
    </xsd:element>
    <xsd:element name="Prozessthema" ma:index="4" nillable="true" ma:displayName="Prozessthema" ma:format="Dropdown" ma:internalName="Prozessthema">
      <xsd:simpleType>
        <xsd:restriction base="dms:Choice">
          <xsd:enumeration value="./."/>
          <xsd:enumeration value="Allgemein"/>
          <xsd:enumeration value="Angebot"/>
          <xsd:enumeration value="Arbeitsverträge"/>
          <xsd:enumeration value="Auftrag"/>
          <xsd:enumeration value="Ausschreibung"/>
          <xsd:enumeration value="Austritt MA"/>
          <xsd:enumeration value="Bestellung"/>
          <xsd:enumeration value="Brief"/>
          <xsd:enumeration value="Druckereivorlage"/>
          <xsd:enumeration value="Gutschriften"/>
          <xsd:enumeration value="Kunden"/>
          <xsd:enumeration value="MA Entwicklung"/>
          <xsd:enumeration value="Neuer MA"/>
          <xsd:enumeration value="Projektabschluss"/>
          <xsd:enumeration value="Projekttoolbox"/>
          <xsd:enumeration value="Projektverrechnung"/>
          <xsd:enumeration value="Projektvorbereitung"/>
          <xsd:enumeration value="Rechnung"/>
          <xsd:enumeration value="Reisekosten"/>
          <xsd:enumeration value="Sonderfälle"/>
          <xsd:enumeration value="Stellenausschreibung &amp; Bewerbungen"/>
          <xsd:enumeration value="Storno"/>
          <xsd:enumeration value="Subunternehmer"/>
          <xsd:enumeration value="Timesheets"/>
          <xsd:enumeration value="Zeugnisse"/>
        </xsd:restriction>
      </xsd:simpleType>
    </xsd:element>
    <xsd:element name="_dlc_DocId" ma:index="17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18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9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61a55d-4589-43de-94bb-8dded3e84ec0" elementFormDefault="qualified">
    <xsd:import namespace="http://schemas.microsoft.com/office/2006/documentManagement/types"/>
    <xsd:import namespace="http://schemas.microsoft.com/office/infopath/2007/PartnerControls"/>
    <xsd:element name="Archivierungsgrund" ma:index="8" nillable="true" ma:displayName="Archivierungsgrund" ma:internalName="Archivierungsgrund">
      <xsd:simpleType>
        <xsd:restriction base="dms:Note">
          <xsd:maxLength value="255"/>
        </xsd:restriction>
      </xsd:simpleType>
    </xsd:element>
    <xsd:element name="DLCPolicyLabelValue" ma:index="25" nillable="true" ma:displayName="Bezeichnung" ma:description="Speichert den aktuellen Wert der Bezeichnung." ma:internalName="DLCPolicyLabelValue" ma:readOnly="true">
      <xsd:simpleType>
        <xsd:restriction base="dms:Note">
          <xsd:maxLength value="255"/>
        </xsd:restriction>
      </xsd:simpleType>
    </xsd:element>
    <xsd:element name="DLCPolicyLabelClientValue" ma:index="26" nillable="true" ma:displayName="Clientbezeichnungswert" ma:description="Speichert den letzten Bezeichnungswert, der auf dem Client errechnet wurde." ma:hidden="true" ma:internalName="DLCPolicyLabelClientValue" ma:readOnly="false">
      <xsd:simpleType>
        <xsd:restriction base="dms:Note"/>
      </xsd:simpleType>
    </xsd:element>
    <xsd:element name="DLCPolicyLabelLock" ma:index="27" nillable="true" ma:displayName="Bezeichnung gesperrt" ma:description="Gibt an, ob die Bezeichnung zu aktualisieren ist, wenn Elementeigenschaften geändert werden." ma:hidden="true" ma:internalName="DLCPolicyLabelLock" ma:readOnly="fals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9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E5519D02-F5E4-4D45-BACB-7D3735C24017}">
  <ds:schemaRefs>
    <ds:schemaRef ds:uri="http://schemas.microsoft.com/office/infopath/2007/PartnerControls"/>
    <ds:schemaRef ds:uri="http://purl.org/dc/dcmitype/"/>
    <ds:schemaRef ds:uri="b5c6ba39-e055-4528-8d96-942d43fd41f6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1561a55d-4589-43de-94bb-8dded3e84ec0"/>
    <ds:schemaRef ds:uri="3ba2c390-782e-48d2-92a4-4ceacf62dc83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D4355BD-3339-4747-A9BA-2F7E78B26BF6}">
  <ds:schemaRefs>
    <ds:schemaRef ds:uri="office.server.policy"/>
  </ds:schemaRefs>
</ds:datastoreItem>
</file>

<file path=customXml/itemProps3.xml><?xml version="1.0" encoding="utf-8"?>
<ds:datastoreItem xmlns:ds="http://schemas.openxmlformats.org/officeDocument/2006/customXml" ds:itemID="{BF9375A8-3119-4DA8-B304-E0F5F369DCAD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BCE9F00-598A-4817-82B0-FFE08B1F39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5c6ba39-e055-4528-8d96-942d43fd41f6"/>
    <ds:schemaRef ds:uri="3ba2c390-782e-48d2-92a4-4ceacf62dc83"/>
    <ds:schemaRef ds:uri="1561a55d-4589-43de-94bb-8dded3e84e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38B952D7-EB30-489B-97CD-4DF8165C4AB9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VI07-011 Vorlage Präsentation 16-9 (8)</Template>
  <TotalTime>0</TotalTime>
  <Words>288</Words>
  <Application>Microsoft Office PowerPoint</Application>
  <PresentationFormat>Breitbild</PresentationFormat>
  <Paragraphs>71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3" baseType="lpstr">
      <vt:lpstr>Arial</vt:lpstr>
      <vt:lpstr>Calibri</vt:lpstr>
      <vt:lpstr>Open Sans</vt:lpstr>
      <vt:lpstr>Open Sans Light</vt:lpstr>
      <vt:lpstr>Open Sans Semibold</vt:lpstr>
      <vt:lpstr>Open Sans Semibold</vt:lpstr>
      <vt:lpstr>Symbol</vt:lpstr>
      <vt:lpstr>Wingdings</vt:lpstr>
      <vt:lpstr>S&amp;N Design</vt:lpstr>
      <vt:lpstr>PowerPoint-Präsentation</vt:lpstr>
      <vt:lpstr>KI-Thementag – Ablauf der Dojos</vt:lpstr>
      <vt:lpstr>Erst für 2. Dojo: Design before Implementation</vt:lpstr>
      <vt:lpstr>Spezifikation = Design before Implementation</vt:lpstr>
    </vt:vector>
  </TitlesOfParts>
  <Company>S&amp;N Invent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Kompetenzpräsentation</dc:title>
  <dc:creator>Heyne, Nicole</dc:creator>
  <cp:keywords>S&amp;N Invent</cp:keywords>
  <cp:lastModifiedBy>Lessner, Jan</cp:lastModifiedBy>
  <cp:revision>289</cp:revision>
  <dcterms:created xsi:type="dcterms:W3CDTF">2021-11-22T06:34:15Z</dcterms:created>
  <dcterms:modified xsi:type="dcterms:W3CDTF">2025-06-12T15:31:48Z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0x010100EF5765CEE729E1418BE065284ADE3D31</vt:lpwstr>
  </property>
  <property fmtid="{D5CDD505-2E9C-101B-9397-08002B2CF9AE}" pid="3" name="_dlc_DocIdItemGuid">
    <vt:lpwstr>f34c9957-ad12-4f5d-af6f-6ecdbeca9caf</vt:lpwstr>
  </property>
</Properties>
</file>