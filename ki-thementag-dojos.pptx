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9"/>
  </p:notesMasterIdLst>
  <p:handoutMasterIdLst>
    <p:handoutMasterId r:id="rId10"/>
  </p:handoutMasterIdLst>
  <p:sldIdLst>
    <p:sldId id="1329" r:id="rId7"/>
    <p:sldId id="1331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40507"/>
    <a:srgbClr val="2D475A"/>
    <a:srgbClr val="7F7F7F"/>
    <a:srgbClr val="F49927"/>
    <a:srgbClr val="000000"/>
    <a:srgbClr val="FFC000"/>
    <a:srgbClr val="BFBFBF"/>
    <a:srgbClr val="C5003E"/>
    <a:srgbClr val="5460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29" d="100"/>
          <a:sy n="129" d="100"/>
        </p:scale>
        <p:origin x="606" y="132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 Copyright 2025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A717E57-E23F-6BA7-19F5-254B2B3154E8}"/>
              </a:ext>
            </a:extLst>
          </p:cNvPr>
          <p:cNvSpPr/>
          <p:nvPr/>
        </p:nvSpPr>
        <p:spPr>
          <a:xfrm>
            <a:off x="407368" y="2047210"/>
            <a:ext cx="5688632" cy="4266796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03B07F0F-6E76-FEC7-5676-0F5BD307CD3B}"/>
              </a:ext>
            </a:extLst>
          </p:cNvPr>
          <p:cNvSpPr/>
          <p:nvPr/>
        </p:nvSpPr>
        <p:spPr>
          <a:xfrm>
            <a:off x="6456040" y="2047211"/>
            <a:ext cx="5286120" cy="2970244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KI-Thementag – Ablauf der Dojos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EC8A87-DB9E-E65F-08EB-2CDC1E8A9C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2610350"/>
            <a:ext cx="5616624" cy="1876734"/>
          </a:xfrm>
        </p:spPr>
        <p:txBody>
          <a:bodyPr>
            <a:normAutofit/>
          </a:bodyPr>
          <a:lstStyle/>
          <a:p>
            <a:r>
              <a:rPr lang="de-DE" sz="1800" dirty="0"/>
              <a:t>Kurze Einführung: was ist ein Coding Dojo?</a:t>
            </a:r>
          </a:p>
          <a:p>
            <a:r>
              <a:rPr lang="de-DE" sz="1800" dirty="0"/>
              <a:t>Programmieren der Kata „</a:t>
            </a:r>
            <a:r>
              <a:rPr lang="de-DE" sz="1800" dirty="0" err="1"/>
              <a:t>Social</a:t>
            </a:r>
            <a:r>
              <a:rPr lang="de-DE" sz="1800" dirty="0"/>
              <a:t> Time“</a:t>
            </a:r>
          </a:p>
          <a:p>
            <a:r>
              <a:rPr lang="de-DE" sz="1800" dirty="0"/>
              <a:t>Schrittweise aufgedeckt</a:t>
            </a:r>
          </a:p>
          <a:p>
            <a:r>
              <a:rPr lang="de-DE" sz="1800" dirty="0"/>
              <a:t>Nur unterstützt von </a:t>
            </a:r>
            <a:r>
              <a:rPr lang="de-DE" sz="1800" dirty="0" err="1"/>
              <a:t>Github</a:t>
            </a:r>
            <a:r>
              <a:rPr lang="de-DE" sz="1800" dirty="0"/>
              <a:t> Copilot </a:t>
            </a:r>
            <a:r>
              <a:rPr lang="de-DE" sz="1800" dirty="0" err="1"/>
              <a:t>Completions</a:t>
            </a:r>
            <a:endParaRPr lang="de-DE" sz="1800" dirty="0"/>
          </a:p>
          <a:p>
            <a:pPr marL="0" indent="0">
              <a:buNone/>
            </a:pPr>
            <a:r>
              <a:rPr lang="de-DE" sz="1800" dirty="0">
                <a:sym typeface="Wingdings" panose="05000000000000000000" pitchFamily="2" charset="2"/>
              </a:rPr>
              <a:t> Schnelle Produktion von </a:t>
            </a:r>
            <a:r>
              <a:rPr lang="de-DE" sz="1800" dirty="0" err="1">
                <a:sym typeface="Wingdings" panose="05000000000000000000" pitchFamily="2" charset="2"/>
              </a:rPr>
              <a:t>Spagetticode</a:t>
            </a:r>
            <a:endParaRPr lang="de-DE" sz="1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38EC77-57EA-20C5-3BD5-9640066A558D}"/>
              </a:ext>
            </a:extLst>
          </p:cNvPr>
          <p:cNvSpPr txBox="1"/>
          <p:nvPr/>
        </p:nvSpPr>
        <p:spPr>
          <a:xfrm>
            <a:off x="479376" y="21328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1. Stunde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3088B3B-64E7-C6F7-B55A-998DE2895A58}"/>
              </a:ext>
            </a:extLst>
          </p:cNvPr>
          <p:cNvGrpSpPr/>
          <p:nvPr/>
        </p:nvGrpSpPr>
        <p:grpSpPr>
          <a:xfrm>
            <a:off x="473468" y="4606347"/>
            <a:ext cx="5706784" cy="1774980"/>
            <a:chOff x="473468" y="4606347"/>
            <a:chExt cx="5706784" cy="1774980"/>
          </a:xfrm>
        </p:grpSpPr>
        <p:sp>
          <p:nvSpPr>
            <p:cNvPr id="14" name="Inhaltsplatzhalter 4">
              <a:extLst>
                <a:ext uri="{FF2B5EF4-FFF2-40B4-BE49-F238E27FC236}">
                  <a16:creationId xmlns:a16="http://schemas.microsoft.com/office/drawing/2014/main" id="{E7A0ACCC-7805-73F9-B351-8863AA5B80DB}"/>
                </a:ext>
              </a:extLst>
            </p:cNvPr>
            <p:cNvSpPr txBox="1">
              <a:spLocks/>
            </p:cNvSpPr>
            <p:nvPr/>
          </p:nvSpPr>
          <p:spPr>
            <a:xfrm>
              <a:off x="563628" y="5017454"/>
              <a:ext cx="5616624" cy="136387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1pPr>
              <a:lvl2pPr marL="742950" indent="-28575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20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2pPr>
              <a:lvl3pPr marL="1143000" indent="-228600" defTabSz="457200">
                <a:spcBef>
                  <a:spcPts val="600"/>
                </a:spcBef>
                <a:buClr>
                  <a:schemeClr val="accent1"/>
                </a:buClr>
                <a:buFont typeface="Wingdings" panose="05000000000000000000" pitchFamily="2" charset="2"/>
                <a:buChar char="§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3pPr>
              <a:lvl4pPr marL="16002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6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4pPr>
              <a:lvl5pPr marL="2057400" indent="-228600" defTabSz="457200">
                <a:spcBef>
                  <a:spcPts val="600"/>
                </a:spcBef>
                <a:buClr>
                  <a:schemeClr val="accent1"/>
                </a:buClr>
                <a:buFont typeface="Symbol" panose="05050102010706020507" pitchFamily="18" charset="2"/>
                <a:buChar char="-"/>
                <a:defRPr sz="1200">
                  <a:latin typeface="Open Sans Light" panose="020B0306030504020204" pitchFamily="34" charset="0"/>
                  <a:ea typeface="Open Sans Light" panose="020B0306030504020204" pitchFamily="34" charset="0"/>
                  <a:cs typeface="Open Sans Light" panose="020B0306030504020204" pitchFamily="34" charset="0"/>
                </a:defRPr>
              </a:lvl5pPr>
              <a:lvl6pPr marL="25146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6pPr>
              <a:lvl7pPr marL="29718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7pPr>
              <a:lvl8pPr marL="34290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8pPr>
              <a:lvl9pPr marL="3886200" indent="-228600" defTabSz="457200">
                <a:spcBef>
                  <a:spcPct val="20000"/>
                </a:spcBef>
                <a:buFont typeface="Arial"/>
                <a:buChar char="•"/>
                <a:defRPr sz="2000"/>
              </a:lvl9pPr>
            </a:lstStyle>
            <a:p>
              <a:r>
                <a:rPr lang="de-DE" dirty="0" err="1"/>
                <a:t>Refactoring</a:t>
              </a:r>
              <a:endParaRPr lang="de-DE" dirty="0"/>
            </a:p>
            <a:p>
              <a:r>
                <a:rPr lang="de-DE" dirty="0"/>
                <a:t>Aufräumen des </a:t>
              </a:r>
              <a:r>
                <a:rPr lang="de-DE" dirty="0" err="1"/>
                <a:t>Spagetticodes</a:t>
              </a:r>
              <a:r>
                <a:rPr lang="de-DE" dirty="0"/>
                <a:t> mit </a:t>
              </a:r>
              <a:r>
                <a:rPr lang="de-DE" dirty="0" err="1"/>
                <a:t>Junie</a:t>
              </a:r>
              <a:r>
                <a:rPr lang="de-DE" dirty="0"/>
                <a:t> Chat</a:t>
              </a:r>
            </a:p>
            <a:p>
              <a:r>
                <a:rPr lang="de-DE" dirty="0"/>
                <a:t>Ggf. parallel mit H.I.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4CC1568A-F8C6-CD98-2159-5A7A4A0D0068}"/>
                </a:ext>
              </a:extLst>
            </p:cNvPr>
            <p:cNvSpPr txBox="1"/>
            <p:nvPr/>
          </p:nvSpPr>
          <p:spPr>
            <a:xfrm>
              <a:off x="473468" y="4606347"/>
              <a:ext cx="1499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 dirty="0"/>
                <a:t>2. Stunde</a:t>
              </a:r>
            </a:p>
          </p:txBody>
        </p:sp>
      </p:grpSp>
      <p:sp>
        <p:nvSpPr>
          <p:cNvPr id="27" name="Inhaltsplatzhalter 4">
            <a:extLst>
              <a:ext uri="{FF2B5EF4-FFF2-40B4-BE49-F238E27FC236}">
                <a16:creationId xmlns:a16="http://schemas.microsoft.com/office/drawing/2014/main" id="{9F38855B-F4ED-3A1D-1444-87C3E28E1599}"/>
              </a:ext>
            </a:extLst>
          </p:cNvPr>
          <p:cNvSpPr txBox="1">
            <a:spLocks/>
          </p:cNvSpPr>
          <p:nvPr/>
        </p:nvSpPr>
        <p:spPr>
          <a:xfrm>
            <a:off x="6597863" y="2202292"/>
            <a:ext cx="4970745" cy="295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/>
              <a:t>Mehr Grundlage </a:t>
            </a:r>
          </a:p>
          <a:p>
            <a:pPr lvl="1"/>
            <a:r>
              <a:rPr lang="de-DE" sz="1400" dirty="0"/>
              <a:t>Eine Spezifikation für „</a:t>
            </a:r>
            <a:r>
              <a:rPr lang="de-DE" sz="1400" dirty="0" err="1"/>
              <a:t>Social</a:t>
            </a:r>
            <a:r>
              <a:rPr lang="de-DE" sz="1400" dirty="0"/>
              <a:t> Time“</a:t>
            </a:r>
          </a:p>
          <a:p>
            <a:pPr lvl="1"/>
            <a:r>
              <a:rPr lang="de-DE" sz="1400" dirty="0"/>
              <a:t>Saubere (manuelle) Referenz-Implementierung</a:t>
            </a:r>
          </a:p>
          <a:p>
            <a:r>
              <a:rPr lang="de-DE" sz="1800" dirty="0"/>
              <a:t>Generierung von Code aus </a:t>
            </a:r>
            <a:r>
              <a:rPr lang="de-DE" sz="1800" dirty="0" err="1"/>
              <a:t>Spec</a:t>
            </a:r>
            <a:r>
              <a:rPr lang="de-DE" sz="1800" dirty="0"/>
              <a:t> </a:t>
            </a:r>
            <a:br>
              <a:rPr lang="de-DE" sz="1800" dirty="0"/>
            </a:br>
            <a:r>
              <a:rPr lang="de-DE" sz="1800" dirty="0"/>
              <a:t>mit </a:t>
            </a:r>
            <a:r>
              <a:rPr lang="de-DE" sz="1800" dirty="0" err="1"/>
              <a:t>Junie</a:t>
            </a:r>
            <a:endParaRPr lang="de-DE" sz="1800" dirty="0"/>
          </a:p>
          <a:p>
            <a:r>
              <a:rPr lang="de-DE" sz="1800" dirty="0"/>
              <a:t>Sukzessive Verbesserung des Codes durch</a:t>
            </a:r>
          </a:p>
          <a:p>
            <a:pPr lvl="1"/>
            <a:r>
              <a:rPr lang="de-DE" sz="1400" dirty="0"/>
              <a:t>Individuelles Prompten</a:t>
            </a:r>
          </a:p>
          <a:p>
            <a:pPr lvl="1"/>
            <a:r>
              <a:rPr lang="de-DE" sz="1400" dirty="0"/>
              <a:t>Verallgemeinerung / Aufnahme in Regelwerk</a:t>
            </a:r>
          </a:p>
          <a:p>
            <a:endParaRPr lang="de-DE" sz="18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AC7A44-9316-1AC5-415F-E584BC7970C8}"/>
              </a:ext>
            </a:extLst>
          </p:cNvPr>
          <p:cNvSpPr txBox="1"/>
          <p:nvPr/>
        </p:nvSpPr>
        <p:spPr>
          <a:xfrm>
            <a:off x="6416630" y="1442486"/>
            <a:ext cx="5150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400" b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de-DE" dirty="0"/>
              <a:t>Dojo II: KI codet, wir unterstützen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1B0B79-0B63-1C93-271C-3B3E4B18177B}"/>
              </a:ext>
            </a:extLst>
          </p:cNvPr>
          <p:cNvSpPr txBox="1"/>
          <p:nvPr/>
        </p:nvSpPr>
        <p:spPr>
          <a:xfrm>
            <a:off x="6456040" y="5437012"/>
            <a:ext cx="3100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Tobias und Yannik:</a:t>
            </a:r>
          </a:p>
          <a:p>
            <a:r>
              <a:rPr lang="de-DE" sz="1200" dirty="0"/>
              <a:t>Sind die Ideengeber, wenn es darum geht,</a:t>
            </a:r>
          </a:p>
          <a:p>
            <a:r>
              <a:rPr lang="de-DE" sz="1200" dirty="0"/>
              <a:t>die KI „schlau“ zu nutzen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33C9EA-E9A3-542A-5F15-3509522B54D4}"/>
              </a:ext>
            </a:extLst>
          </p:cNvPr>
          <p:cNvSpPr txBox="1"/>
          <p:nvPr/>
        </p:nvSpPr>
        <p:spPr>
          <a:xfrm>
            <a:off x="348707" y="1439020"/>
            <a:ext cx="491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Dojo I: Wir coden, KI unterstützt</a:t>
            </a:r>
          </a:p>
        </p:txBody>
      </p:sp>
    </p:spTree>
    <p:extLst>
      <p:ext uri="{BB962C8B-B14F-4D97-AF65-F5344CB8AC3E}">
        <p14:creationId xmlns:p14="http://schemas.microsoft.com/office/powerpoint/2010/main" val="83711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 animBg="1"/>
      <p:bldP spid="5" grpId="0" build="p"/>
      <p:bldP spid="11" grpId="0"/>
      <p:bldP spid="27" grpId="0"/>
      <p:bldP spid="28" grpId="0"/>
      <p:bldP spid="3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A8292768-BB58-F29B-6B45-E1B457B9DE61}"/>
              </a:ext>
            </a:extLst>
          </p:cNvPr>
          <p:cNvSpPr/>
          <p:nvPr/>
        </p:nvSpPr>
        <p:spPr>
          <a:xfrm>
            <a:off x="329112" y="3397590"/>
            <a:ext cx="10159376" cy="210340"/>
          </a:xfrm>
          <a:prstGeom prst="rightArrow">
            <a:avLst>
              <a:gd name="adj1" fmla="val 100000"/>
              <a:gd name="adj2" fmla="val 53498"/>
            </a:avLst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Spezifikation = Design </a:t>
            </a:r>
            <a:r>
              <a:rPr lang="de-DE" dirty="0" err="1"/>
              <a:t>before</a:t>
            </a:r>
            <a:r>
              <a:rPr lang="de-DE" dirty="0"/>
              <a:t> Implementation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8" name="Pfeil: Chevron 7">
            <a:extLst>
              <a:ext uri="{FF2B5EF4-FFF2-40B4-BE49-F238E27FC236}">
                <a16:creationId xmlns:a16="http://schemas.microsoft.com/office/drawing/2014/main" id="{4523CC4B-EA09-CFDE-45D5-291E9AE10D63}"/>
              </a:ext>
            </a:extLst>
          </p:cNvPr>
          <p:cNvSpPr/>
          <p:nvPr/>
        </p:nvSpPr>
        <p:spPr>
          <a:xfrm>
            <a:off x="846312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Kunden-wunsch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Pfeil: Chevron 11">
            <a:extLst>
              <a:ext uri="{FF2B5EF4-FFF2-40B4-BE49-F238E27FC236}">
                <a16:creationId xmlns:a16="http://schemas.microsoft.com/office/drawing/2014/main" id="{D03779AC-557C-FD34-4526-C4662C712030}"/>
              </a:ext>
            </a:extLst>
          </p:cNvPr>
          <p:cNvSpPr/>
          <p:nvPr/>
        </p:nvSpPr>
        <p:spPr>
          <a:xfrm>
            <a:off x="2807784" y="2248483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Ortstermin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21D7F417-3054-A005-6CB6-F577A9F84A22}"/>
              </a:ext>
            </a:extLst>
          </p:cNvPr>
          <p:cNvSpPr/>
          <p:nvPr/>
        </p:nvSpPr>
        <p:spPr>
          <a:xfrm>
            <a:off x="4743949" y="2253521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Entwurf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Pfeil: Chevron 14">
            <a:extLst>
              <a:ext uri="{FF2B5EF4-FFF2-40B4-BE49-F238E27FC236}">
                <a16:creationId xmlns:a16="http://schemas.microsoft.com/office/drawing/2014/main" id="{722D41A9-D13E-FEC4-F1C2-BA0634BA551F}"/>
              </a:ext>
            </a:extLst>
          </p:cNvPr>
          <p:cNvSpPr/>
          <p:nvPr/>
        </p:nvSpPr>
        <p:spPr>
          <a:xfrm>
            <a:off x="6672064" y="2249525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Umsetzung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Pfeil: Chevron 15">
            <a:extLst>
              <a:ext uri="{FF2B5EF4-FFF2-40B4-BE49-F238E27FC236}">
                <a16:creationId xmlns:a16="http://schemas.microsoft.com/office/drawing/2014/main" id="{7DB4E27C-C2C7-0013-5B8D-ECCD4A9C19C0}"/>
              </a:ext>
            </a:extLst>
          </p:cNvPr>
          <p:cNvSpPr/>
          <p:nvPr/>
        </p:nvSpPr>
        <p:spPr>
          <a:xfrm>
            <a:off x="8616280" y="2244914"/>
            <a:ext cx="2088232" cy="1080120"/>
          </a:xfrm>
          <a:prstGeom prst="chevron">
            <a:avLst>
              <a:gd name="adj" fmla="val 26529"/>
            </a:avLst>
          </a:prstGeom>
          <a:solidFill>
            <a:srgbClr val="FFC000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/>
            <a:endParaRPr lang="de-DE" sz="2000" dirty="0"/>
          </a:p>
          <a:p>
            <a:pPr algn="ctr"/>
            <a:r>
              <a:rPr lang="de-DE" sz="2000" dirty="0"/>
              <a:t>Bau-abnahme</a:t>
            </a:r>
          </a:p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2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D8B12D0-9DAD-A95F-A02F-A04DE541D391}"/>
              </a:ext>
            </a:extLst>
          </p:cNvPr>
          <p:cNvSpPr/>
          <p:nvPr/>
        </p:nvSpPr>
        <p:spPr>
          <a:xfrm>
            <a:off x="973213" y="1516839"/>
            <a:ext cx="1522387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Eine Terrasse nach Süden raus mit direktem Zugang aus dem Wohnzimmer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E5EA9C-6014-0BBE-94F8-A71B11CAA03E}"/>
              </a:ext>
            </a:extLst>
          </p:cNvPr>
          <p:cNvSpPr/>
          <p:nvPr/>
        </p:nvSpPr>
        <p:spPr>
          <a:xfrm>
            <a:off x="1232905" y="3248118"/>
            <a:ext cx="1085229" cy="555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Beschreibung „mit Händen und Füßen“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F4F8316-1838-5E36-B8E2-ADE2A0EF8D49}"/>
              </a:ext>
            </a:extLst>
          </p:cNvPr>
          <p:cNvSpPr/>
          <p:nvPr/>
        </p:nvSpPr>
        <p:spPr>
          <a:xfrm>
            <a:off x="3061792" y="1516839"/>
            <a:ext cx="1394792" cy="8845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Architekt kommt vorbei und bringt Pflasterer und Fensterbauer mit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7E4C994-1E45-CB29-7F83-E816B0273124}"/>
              </a:ext>
            </a:extLst>
          </p:cNvPr>
          <p:cNvSpPr/>
          <p:nvPr/>
        </p:nvSpPr>
        <p:spPr>
          <a:xfrm>
            <a:off x="3177121" y="3227015"/>
            <a:ext cx="1085229" cy="7676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Ein paar Skizzen und handschrift-</a:t>
            </a:r>
            <a:r>
              <a:rPr lang="de-DE" sz="1100" dirty="0" err="1">
                <a:solidFill>
                  <a:schemeClr val="tx1">
                    <a:lumMod val="75000"/>
                  </a:schemeClr>
                </a:solidFill>
              </a:rPr>
              <a:t>liche</a:t>
            </a:r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 Notizen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F67EA686-356C-B2AD-3445-83E927702A7D}"/>
              </a:ext>
            </a:extLst>
          </p:cNvPr>
          <p:cNvSpPr/>
          <p:nvPr/>
        </p:nvSpPr>
        <p:spPr>
          <a:xfrm>
            <a:off x="5002560" y="3175881"/>
            <a:ext cx="1309464" cy="873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Detaillierte Bauzeichnung mit Bemaßungen, vom Bauherrn freizugeben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5EA5588-315A-EAA5-71C1-047F9D5FAFB1}"/>
              </a:ext>
            </a:extLst>
          </p:cNvPr>
          <p:cNvSpPr/>
          <p:nvPr/>
        </p:nvSpPr>
        <p:spPr>
          <a:xfrm>
            <a:off x="6946776" y="1543457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Baumaßnahme nach den Regeln der Handwerks-kunst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Bauzeichnung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6CE045F-58B9-221D-807E-D1385FEEA273}"/>
              </a:ext>
            </a:extLst>
          </p:cNvPr>
          <p:cNvSpPr/>
          <p:nvPr/>
        </p:nvSpPr>
        <p:spPr>
          <a:xfrm>
            <a:off x="7177919" y="3213782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Die Terrasse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F377EB4-8892-4473-148D-5E76212829CC}"/>
              </a:ext>
            </a:extLst>
          </p:cNvPr>
          <p:cNvSpPr/>
          <p:nvPr/>
        </p:nvSpPr>
        <p:spPr>
          <a:xfrm>
            <a:off x="9120336" y="3187688"/>
            <a:ext cx="890017" cy="566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Endgültige Bezahlung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F0095B18-6DA2-D9DB-0823-470723321373}"/>
              </a:ext>
            </a:extLst>
          </p:cNvPr>
          <p:cNvSpPr/>
          <p:nvPr/>
        </p:nvSpPr>
        <p:spPr>
          <a:xfrm>
            <a:off x="8889912" y="1470116"/>
            <a:ext cx="1394792" cy="9106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Prüfung auf Einhaltung der handwerklichen Sorgfalt UND…</a:t>
            </a:r>
          </a:p>
          <a:p>
            <a:r>
              <a:rPr lang="de-DE" sz="1100" dirty="0">
                <a:solidFill>
                  <a:schemeClr val="tx1">
                    <a:lumMod val="75000"/>
                  </a:schemeClr>
                </a:solidFill>
              </a:rPr>
              <a:t>der  Bauzeichnung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7FF0BA4-635F-F5C5-CDAF-C517669281C3}"/>
              </a:ext>
            </a:extLst>
          </p:cNvPr>
          <p:cNvSpPr txBox="1"/>
          <p:nvPr/>
        </p:nvSpPr>
        <p:spPr>
          <a:xfrm>
            <a:off x="322327" y="3379649"/>
            <a:ext cx="8130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Ergebnisse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478221-199D-AF4C-0FED-FB0D256F3434}"/>
              </a:ext>
            </a:extLst>
          </p:cNvPr>
          <p:cNvSpPr txBox="1"/>
          <p:nvPr/>
        </p:nvSpPr>
        <p:spPr>
          <a:xfrm>
            <a:off x="4763943" y="1509957"/>
            <a:ext cx="1856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err="1"/>
              <a:t>Craftsmanship</a:t>
            </a:r>
            <a:endParaRPr lang="de-DE" sz="2000" b="1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971190BC-F846-BBC2-5180-21DB908E3AC9}"/>
              </a:ext>
            </a:extLst>
          </p:cNvPr>
          <p:cNvGrpSpPr/>
          <p:nvPr/>
        </p:nvGrpSpPr>
        <p:grpSpPr>
          <a:xfrm>
            <a:off x="751379" y="4282226"/>
            <a:ext cx="9953133" cy="1739062"/>
            <a:chOff x="751379" y="4282226"/>
            <a:chExt cx="9953133" cy="1739062"/>
          </a:xfrm>
        </p:grpSpPr>
        <p:sp>
          <p:nvSpPr>
            <p:cNvPr id="29" name="Pfeil: Chevron 28">
              <a:extLst>
                <a:ext uri="{FF2B5EF4-FFF2-40B4-BE49-F238E27FC236}">
                  <a16:creationId xmlns:a16="http://schemas.microsoft.com/office/drawing/2014/main" id="{A85A51D4-C46E-0891-FD98-89FF220F8E2F}"/>
                </a:ext>
              </a:extLst>
            </p:cNvPr>
            <p:cNvSpPr/>
            <p:nvPr/>
          </p:nvSpPr>
          <p:spPr>
            <a:xfrm>
              <a:off x="846312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Change</a:t>
              </a:r>
            </a:p>
            <a:p>
              <a:pPr algn="ctr"/>
              <a:r>
                <a:rPr lang="de-DE" sz="2000" dirty="0"/>
                <a:t>Request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0" name="Pfeil: Chevron 29">
              <a:extLst>
                <a:ext uri="{FF2B5EF4-FFF2-40B4-BE49-F238E27FC236}">
                  <a16:creationId xmlns:a16="http://schemas.microsoft.com/office/drawing/2014/main" id="{1ACD9667-B1FA-D522-12C2-FA5D1286A847}"/>
                </a:ext>
              </a:extLst>
            </p:cNvPr>
            <p:cNvSpPr/>
            <p:nvPr/>
          </p:nvSpPr>
          <p:spPr>
            <a:xfrm>
              <a:off x="2788920" y="4686863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Refinement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1" name="Pfeil: Chevron 30">
              <a:extLst>
                <a:ext uri="{FF2B5EF4-FFF2-40B4-BE49-F238E27FC236}">
                  <a16:creationId xmlns:a16="http://schemas.microsoft.com/office/drawing/2014/main" id="{22BCD251-A12D-9382-7780-746A2E996C6E}"/>
                </a:ext>
              </a:extLst>
            </p:cNvPr>
            <p:cNvSpPr/>
            <p:nvPr/>
          </p:nvSpPr>
          <p:spPr>
            <a:xfrm>
              <a:off x="4731373" y="469085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32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2" name="Pfeil: Chevron 31">
              <a:extLst>
                <a:ext uri="{FF2B5EF4-FFF2-40B4-BE49-F238E27FC236}">
                  <a16:creationId xmlns:a16="http://schemas.microsoft.com/office/drawing/2014/main" id="{45B47365-D35F-BB0C-46EF-1950C2F220C5}"/>
                </a:ext>
              </a:extLst>
            </p:cNvPr>
            <p:cNvSpPr/>
            <p:nvPr/>
          </p:nvSpPr>
          <p:spPr>
            <a:xfrm>
              <a:off x="6672064" y="4702657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 err="1"/>
                <a:t>Implemen-tierung</a:t>
              </a:r>
              <a:endParaRPr lang="de-DE" sz="2000" dirty="0"/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3" name="Pfeil: Chevron 32">
              <a:extLst>
                <a:ext uri="{FF2B5EF4-FFF2-40B4-BE49-F238E27FC236}">
                  <a16:creationId xmlns:a16="http://schemas.microsoft.com/office/drawing/2014/main" id="{98892B3B-6C34-827D-9635-A38513A38425}"/>
                </a:ext>
              </a:extLst>
            </p:cNvPr>
            <p:cNvSpPr/>
            <p:nvPr/>
          </p:nvSpPr>
          <p:spPr>
            <a:xfrm>
              <a:off x="8616280" y="4701530"/>
              <a:ext cx="2088232" cy="1080120"/>
            </a:xfrm>
            <a:prstGeom prst="chevron">
              <a:avLst>
                <a:gd name="adj" fmla="val 26529"/>
              </a:avLst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de-DE" sz="2000" dirty="0"/>
            </a:p>
            <a:p>
              <a:pPr algn="ctr"/>
              <a:r>
                <a:rPr lang="de-DE" sz="2000" dirty="0"/>
                <a:t>Akzeptanz-test</a:t>
              </a:r>
            </a:p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de-DE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738E563-6448-29A0-A8FD-C14905D10A50}"/>
                </a:ext>
              </a:extLst>
            </p:cNvPr>
            <p:cNvSpPr txBox="1"/>
            <p:nvPr/>
          </p:nvSpPr>
          <p:spPr>
            <a:xfrm>
              <a:off x="751379" y="4282226"/>
              <a:ext cx="29402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/>
                <a:t>Software </a:t>
              </a:r>
              <a:r>
                <a:rPr lang="de-DE" sz="2000" b="1" dirty="0" err="1"/>
                <a:t>Craftsmanship</a:t>
              </a:r>
              <a:endParaRPr lang="de-DE" sz="20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A3508D3-D3E2-FE35-F9AB-143FE218DA85}"/>
                </a:ext>
              </a:extLst>
            </p:cNvPr>
            <p:cNvSpPr txBox="1"/>
            <p:nvPr/>
          </p:nvSpPr>
          <p:spPr>
            <a:xfrm>
              <a:off x="1232905" y="5775067"/>
              <a:ext cx="80402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1000" dirty="0"/>
                <a:t>Design </a:t>
              </a:r>
              <a:r>
                <a:rPr lang="de-DE" sz="1000" dirty="0" err="1"/>
                <a:t>before</a:t>
              </a:r>
              <a:r>
                <a:rPr lang="de-DE" sz="1000" dirty="0"/>
                <a:t> Implementation: https://clean-code-developer.de/en/the-straight/blue-degree/#elementor-toc__heading-anchor-5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16FDA4B5-FDE3-B5D8-39A0-BDBC7C45E5E6}"/>
              </a:ext>
            </a:extLst>
          </p:cNvPr>
          <p:cNvSpPr txBox="1"/>
          <p:nvPr/>
        </p:nvSpPr>
        <p:spPr>
          <a:xfrm rot="20912112">
            <a:off x="5039329" y="5026868"/>
            <a:ext cx="1635384" cy="40011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de-DE" sz="2000" b="1" dirty="0"/>
              <a:t>Spezifikation</a:t>
            </a:r>
          </a:p>
        </p:txBody>
      </p:sp>
    </p:spTree>
    <p:extLst>
      <p:ext uri="{BB962C8B-B14F-4D97-AF65-F5344CB8AC3E}">
        <p14:creationId xmlns:p14="http://schemas.microsoft.com/office/powerpoint/2010/main" val="408394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3.xml><?xml version="1.0" encoding="utf-8"?>
<ds:datastoreItem xmlns:ds="http://schemas.openxmlformats.org/officeDocument/2006/customXml" ds:itemID="{E5519D02-F5E4-4D45-BACB-7D3735C24017}">
  <ds:schemaRefs>
    <ds:schemaRef ds:uri="http://schemas.microsoft.com/office/infopath/2007/PartnerControls"/>
    <ds:schemaRef ds:uri="http://purl.org/dc/dcmitype/"/>
    <ds:schemaRef ds:uri="b5c6ba39-e055-4528-8d96-942d43fd41f6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1561a55d-4589-43de-94bb-8dded3e84ec0"/>
    <ds:schemaRef ds:uri="3ba2c390-782e-48d2-92a4-4ceacf62dc83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customXml/itemProps5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262</Words>
  <Application>Microsoft Office PowerPoint</Application>
  <PresentationFormat>Breitbild</PresentationFormat>
  <Paragraphs>67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11" baseType="lpstr">
      <vt:lpstr>Arial</vt:lpstr>
      <vt:lpstr>Calibri</vt:lpstr>
      <vt:lpstr>Open Sans</vt:lpstr>
      <vt:lpstr>Open Sans Light</vt:lpstr>
      <vt:lpstr>Open Sans Semibold</vt:lpstr>
      <vt:lpstr>Open Sans Semibold</vt:lpstr>
      <vt:lpstr>Symbol</vt:lpstr>
      <vt:lpstr>Wingdings</vt:lpstr>
      <vt:lpstr>S&amp;N Design</vt:lpstr>
      <vt:lpstr>KI-Thementag – Ablauf der Dojos</vt:lpstr>
      <vt:lpstr>Spezifikation = Design before Implementation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286</cp:revision>
  <dcterms:created xsi:type="dcterms:W3CDTF">2021-11-22T06:34:15Z</dcterms:created>
  <dcterms:modified xsi:type="dcterms:W3CDTF">2025-06-11T11:44:44Z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